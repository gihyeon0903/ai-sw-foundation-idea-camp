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4"/>
  </p:sldMasterIdLst>
  <p:notesMasterIdLst>
    <p:notesMasterId r:id="rId19"/>
  </p:notesMasterIdLst>
  <p:handoutMasterIdLst>
    <p:handoutMasterId r:id="rId20"/>
  </p:handoutMasterIdLst>
  <p:sldIdLst>
    <p:sldId id="256" r:id="rId5"/>
    <p:sldId id="271" r:id="rId6"/>
    <p:sldId id="323" r:id="rId7"/>
    <p:sldId id="327" r:id="rId8"/>
    <p:sldId id="328" r:id="rId9"/>
    <p:sldId id="331" r:id="rId10"/>
    <p:sldId id="330" r:id="rId11"/>
    <p:sldId id="315" r:id="rId12"/>
    <p:sldId id="333" r:id="rId13"/>
    <p:sldId id="334" r:id="rId14"/>
    <p:sldId id="332" r:id="rId15"/>
    <p:sldId id="324" r:id="rId16"/>
    <p:sldId id="335" r:id="rId17"/>
    <p:sldId id="322" r:id="rId18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제목" id="{E75E278A-FF0E-49A4-B170-79828D63BBAD}">
          <p14:sldIdLst>
            <p14:sldId id="256"/>
          </p14:sldIdLst>
        </p14:section>
        <p14:section name="본문" id="{B9B51309-D148-4332-87C2-07BE32FBCA3B}">
          <p14:sldIdLst>
            <p14:sldId id="271"/>
            <p14:sldId id="323"/>
            <p14:sldId id="327"/>
            <p14:sldId id="328"/>
            <p14:sldId id="331"/>
            <p14:sldId id="330"/>
            <p14:sldId id="315"/>
            <p14:sldId id="333"/>
            <p14:sldId id="334"/>
            <p14:sldId id="332"/>
            <p14:sldId id="324"/>
            <p14:sldId id="335"/>
          </p14:sldIdLst>
        </p14:section>
        <p14:section name="마무리" id="{601B84F1-5264-4F64-8A0C-36416B35D99C}">
          <p14:sldIdLst>
            <p14:sldId id="32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만든 이" initials="오전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B45"/>
    <a:srgbClr val="DD462F"/>
    <a:srgbClr val="D24726"/>
    <a:srgbClr val="404040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62" autoAdjust="0"/>
    <p:restoredTop sz="84577" autoAdjust="0"/>
  </p:normalViewPr>
  <p:slideViewPr>
    <p:cSldViewPr snapToGrid="0">
      <p:cViewPr varScale="1">
        <p:scale>
          <a:sx n="93" d="100"/>
          <a:sy n="93" d="100"/>
        </p:scale>
        <p:origin x="1290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45"/>
    </p:cViewPr>
  </p:sorter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6615A47-BAB8-40E2-A1ED-9E90A072AC00}" type="datetime1">
              <a:rPr lang="ko-KR" altLang="en-US" smtClean="0">
                <a:latin typeface="+mj-ea"/>
                <a:ea typeface="+mj-ea"/>
              </a:rPr>
              <a:t>2023-02-28</a:t>
            </a:fld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+mj-ea"/>
                <a:ea typeface="+mj-ea"/>
              </a:rPr>
              <a:t>‹#›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DC06A2C1-A9EB-4898-A387-106DFED4BED0}" type="datetime1">
              <a:rPr lang="ko-KR" altLang="en-US" smtClean="0"/>
              <a:pPr/>
              <a:t>2023-02-28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DF61EA0F-A667-4B49-8422-0062BC55E249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ko-KR" altLang="en-US" noProof="0" dirty="0">
                <a:latin typeface="+mj-ea"/>
                <a:ea typeface="+mj-ea"/>
              </a:rPr>
              <a:t>안녕하세요</a:t>
            </a:r>
            <a:r>
              <a:rPr lang="en-US" altLang="ko-KR" noProof="0" dirty="0">
                <a:latin typeface="+mj-ea"/>
                <a:ea typeface="+mj-ea"/>
              </a:rPr>
              <a:t>. </a:t>
            </a:r>
            <a:r>
              <a:rPr lang="ko-KR" altLang="en-US" noProof="0" dirty="0">
                <a:latin typeface="+mj-ea"/>
                <a:ea typeface="+mj-ea"/>
              </a:rPr>
              <a:t>저는 </a:t>
            </a:r>
            <a:r>
              <a:rPr lang="ko-KR" altLang="en-US" noProof="0" dirty="0" err="1">
                <a:latin typeface="+mj-ea"/>
                <a:ea typeface="+mj-ea"/>
              </a:rPr>
              <a:t>아맞다</a:t>
            </a:r>
            <a:r>
              <a:rPr lang="ko-KR" altLang="en-US" noProof="0" dirty="0">
                <a:latin typeface="+mj-ea"/>
                <a:ea typeface="+mj-ea"/>
              </a:rPr>
              <a:t> 라는 서비스에 대해 발표를 맡은 </a:t>
            </a:r>
            <a:r>
              <a:rPr lang="en-US" altLang="ko-KR" noProof="0" dirty="0">
                <a:latin typeface="+mj-ea"/>
                <a:ea typeface="+mj-ea"/>
              </a:rPr>
              <a:t>10</a:t>
            </a:r>
            <a:r>
              <a:rPr lang="ko-KR" altLang="en-US" noProof="0" dirty="0">
                <a:latin typeface="+mj-ea"/>
                <a:ea typeface="+mj-ea"/>
              </a:rPr>
              <a:t>팀 발표자 차</a:t>
            </a:r>
            <a:r>
              <a:rPr lang="en-US" altLang="ko-KR" noProof="0" dirty="0">
                <a:latin typeface="+mj-ea"/>
                <a:ea typeface="+mj-ea"/>
              </a:rPr>
              <a:t>. </a:t>
            </a:r>
            <a:r>
              <a:rPr lang="ko-KR" altLang="en-US" noProof="0" dirty="0">
                <a:latin typeface="+mj-ea"/>
                <a:ea typeface="+mj-ea"/>
              </a:rPr>
              <a:t>종</a:t>
            </a:r>
            <a:r>
              <a:rPr lang="en-US" altLang="ko-KR" noProof="0" dirty="0">
                <a:latin typeface="+mj-ea"/>
                <a:ea typeface="+mj-ea"/>
              </a:rPr>
              <a:t>. </a:t>
            </a:r>
            <a:r>
              <a:rPr lang="ko-KR" altLang="en-US" noProof="0" dirty="0">
                <a:latin typeface="+mj-ea"/>
                <a:ea typeface="+mj-ea"/>
              </a:rPr>
              <a:t>협 입니다</a:t>
            </a:r>
            <a:r>
              <a:rPr lang="en-US" altLang="ko-KR" noProof="0" dirty="0">
                <a:latin typeface="+mj-ea"/>
                <a:ea typeface="+mj-ea"/>
              </a:rPr>
              <a:t>.</a:t>
            </a:r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noProof="0" dirty="0">
                <a:latin typeface="+mj-ea"/>
                <a:ea typeface="+mj-ea"/>
              </a:rPr>
              <a:t>저희는 창업 아이디어 개요</a:t>
            </a:r>
            <a:r>
              <a:rPr lang="en-US" altLang="ko-KR" noProof="0" dirty="0">
                <a:latin typeface="+mj-ea"/>
                <a:ea typeface="+mj-ea"/>
              </a:rPr>
              <a:t>.</a:t>
            </a:r>
            <a:r>
              <a:rPr lang="ko-KR" altLang="en-US" noProof="0" dirty="0">
                <a:latin typeface="+mj-ea"/>
                <a:ea typeface="+mj-ea"/>
              </a:rPr>
              <a:t> 실현 전략 및 기대효과</a:t>
            </a:r>
            <a:r>
              <a:rPr lang="en-US" altLang="ko-KR" noProof="0" dirty="0">
                <a:latin typeface="+mj-ea"/>
                <a:ea typeface="+mj-ea"/>
              </a:rPr>
              <a:t>. </a:t>
            </a:r>
            <a:r>
              <a:rPr lang="ko-KR" altLang="en-US" noProof="0" dirty="0">
                <a:latin typeface="+mj-ea"/>
                <a:ea typeface="+mj-ea"/>
              </a:rPr>
              <a:t>최종목표 순으로 발표를 진행하도록 하겠습니다</a:t>
            </a:r>
            <a:r>
              <a:rPr lang="en-US" altLang="ko-KR" noProof="0" dirty="0">
                <a:latin typeface="+mj-ea"/>
                <a:ea typeface="+mj-ea"/>
              </a:rPr>
              <a:t>.</a:t>
            </a:r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1268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000" noProof="0" dirty="0">
                <a:latin typeface="+mj-ea"/>
                <a:ea typeface="+mj-ea"/>
              </a:rPr>
              <a:t>Hi </a:t>
            </a:r>
            <a:r>
              <a:rPr lang="en-US" altLang="ko-KR" sz="2000" noProof="0" dirty="0" err="1">
                <a:latin typeface="+mj-ea"/>
                <a:ea typeface="+mj-ea"/>
              </a:rPr>
              <a:t>bixby</a:t>
            </a:r>
            <a:r>
              <a:rPr lang="en-US" altLang="ko-KR" sz="2000" noProof="0" dirty="0">
                <a:latin typeface="+mj-ea"/>
                <a:ea typeface="+mj-ea"/>
              </a:rPr>
              <a:t> 10</a:t>
            </a:r>
            <a:r>
              <a:rPr lang="ko-KR" altLang="en-US" sz="2000" noProof="0" dirty="0">
                <a:latin typeface="+mj-ea"/>
                <a:ea typeface="+mj-ea"/>
              </a:rPr>
              <a:t>분 뒤에 알람 맞춰줘</a:t>
            </a:r>
            <a:r>
              <a:rPr lang="en-US" altLang="ko-KR" sz="2000" noProof="0" dirty="0">
                <a:latin typeface="+mj-ea"/>
                <a:ea typeface="+mj-ea"/>
              </a:rPr>
              <a:t>!  </a:t>
            </a:r>
            <a:r>
              <a:rPr lang="ko-KR" altLang="en-US" sz="2000" noProof="0" dirty="0">
                <a:latin typeface="+mj-ea"/>
                <a:ea typeface="+mj-ea"/>
              </a:rPr>
              <a:t>다들 아시죠</a:t>
            </a:r>
            <a:r>
              <a:rPr lang="en-US" altLang="ko-KR" sz="2000" noProof="0" dirty="0">
                <a:latin typeface="+mj-ea"/>
                <a:ea typeface="+mj-ea"/>
              </a:rPr>
              <a:t>? </a:t>
            </a:r>
            <a:r>
              <a:rPr lang="ko-KR" altLang="en-US" sz="2000" noProof="0" dirty="0">
                <a:latin typeface="+mj-ea"/>
                <a:ea typeface="+mj-ea"/>
              </a:rPr>
              <a:t>여기 계신 분들도 많이 사용 보신 서비스일 </a:t>
            </a:r>
            <a:r>
              <a:rPr lang="ko-KR" altLang="en-US" sz="2000" noProof="0" dirty="0" err="1">
                <a:latin typeface="+mj-ea"/>
                <a:ea typeface="+mj-ea"/>
              </a:rPr>
              <a:t>껍니다</a:t>
            </a:r>
            <a:r>
              <a:rPr lang="en-US" altLang="ko-KR" sz="2000" noProof="0" dirty="0">
                <a:latin typeface="+mj-ea"/>
                <a:ea typeface="+mj-ea"/>
              </a:rPr>
              <a:t>.</a:t>
            </a:r>
            <a:endParaRPr lang="ko-KR" altLang="en-US" sz="2000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060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000" noProof="0" dirty="0">
                <a:latin typeface="+mj-ea"/>
                <a:ea typeface="+mj-ea"/>
              </a:rPr>
              <a:t>이렇듯 현대 사회는 인공지능을 이용하여 우리가 귀찮아 하는 것들을 대신하는 사회로 변하고 있습니다</a:t>
            </a:r>
            <a:r>
              <a:rPr lang="en-US" altLang="ko-KR" sz="2000" noProof="0" dirty="0">
                <a:latin typeface="+mj-ea"/>
                <a:ea typeface="+mj-ea"/>
              </a:rPr>
              <a:t>.</a:t>
            </a:r>
            <a:endParaRPr lang="ko-KR" altLang="en-US" sz="2000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72719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000" noProof="0" dirty="0">
                <a:latin typeface="+mj-ea"/>
                <a:ea typeface="+mj-ea"/>
              </a:rPr>
              <a:t>저는 현재 아주대학교 기숙사에서 살고 있습니다</a:t>
            </a:r>
            <a:r>
              <a:rPr lang="en-US" altLang="ko-KR" sz="2000" noProof="0" dirty="0">
                <a:latin typeface="+mj-ea"/>
                <a:ea typeface="+mj-ea"/>
              </a:rPr>
              <a:t>. </a:t>
            </a:r>
            <a:r>
              <a:rPr lang="ko-KR" altLang="en-US" sz="2000" noProof="0" dirty="0">
                <a:latin typeface="+mj-ea"/>
                <a:ea typeface="+mj-ea"/>
              </a:rPr>
              <a:t>저는 일주일에 </a:t>
            </a:r>
            <a:r>
              <a:rPr lang="en-US" altLang="ko-KR" sz="2000" noProof="0" dirty="0">
                <a:latin typeface="+mj-ea"/>
                <a:ea typeface="+mj-ea"/>
              </a:rPr>
              <a:t>2</a:t>
            </a:r>
            <a:r>
              <a:rPr lang="ko-KR" altLang="en-US" sz="2000" noProof="0" dirty="0">
                <a:latin typeface="+mj-ea"/>
                <a:ea typeface="+mj-ea"/>
              </a:rPr>
              <a:t>번 정도 빨래방에 가서 빨래를 하고 있으며</a:t>
            </a:r>
            <a:r>
              <a:rPr lang="en-US" altLang="ko-KR" sz="2000" noProof="0" dirty="0">
                <a:latin typeface="+mj-ea"/>
                <a:ea typeface="+mj-ea"/>
              </a:rPr>
              <a:t>, </a:t>
            </a:r>
            <a:r>
              <a:rPr lang="ko-KR" altLang="en-US" sz="2000" noProof="0" dirty="0">
                <a:latin typeface="+mj-ea"/>
                <a:ea typeface="+mj-ea"/>
              </a:rPr>
              <a:t>빨래를 하려면 세탁</a:t>
            </a:r>
            <a:r>
              <a:rPr lang="en-US" altLang="ko-KR" sz="2000" noProof="0" dirty="0">
                <a:latin typeface="+mj-ea"/>
                <a:ea typeface="+mj-ea"/>
              </a:rPr>
              <a:t>, </a:t>
            </a:r>
            <a:r>
              <a:rPr lang="ko-KR" altLang="en-US" sz="2000" noProof="0" dirty="0">
                <a:latin typeface="+mj-ea"/>
                <a:ea typeface="+mj-ea"/>
              </a:rPr>
              <a:t>건조</a:t>
            </a:r>
            <a:r>
              <a:rPr lang="en-US" altLang="ko-KR" sz="2000" noProof="0" dirty="0">
                <a:latin typeface="+mj-ea"/>
                <a:ea typeface="+mj-ea"/>
              </a:rPr>
              <a:t>, </a:t>
            </a:r>
            <a:r>
              <a:rPr lang="ko-KR" altLang="en-US" sz="2000" noProof="0" dirty="0">
                <a:latin typeface="+mj-ea"/>
                <a:ea typeface="+mj-ea"/>
              </a:rPr>
              <a:t>수거 총 세탁실을 </a:t>
            </a:r>
            <a:r>
              <a:rPr lang="en-US" altLang="ko-KR" sz="2000" noProof="0" dirty="0">
                <a:latin typeface="+mj-ea"/>
                <a:ea typeface="+mj-ea"/>
              </a:rPr>
              <a:t>3</a:t>
            </a:r>
            <a:r>
              <a:rPr lang="ko-KR" altLang="en-US" sz="2000" noProof="0" dirty="0">
                <a:latin typeface="+mj-ea"/>
                <a:ea typeface="+mj-ea"/>
              </a:rPr>
              <a:t>번 가야합니다</a:t>
            </a:r>
            <a:r>
              <a:rPr lang="en-US" altLang="ko-KR" sz="2000" noProof="0" dirty="0">
                <a:latin typeface="+mj-ea"/>
                <a:ea typeface="+mj-ea"/>
              </a:rPr>
              <a:t>. </a:t>
            </a:r>
            <a:r>
              <a:rPr lang="ko-KR" altLang="en-US" sz="2000" noProof="0" dirty="0">
                <a:latin typeface="+mj-ea"/>
                <a:ea typeface="+mj-ea"/>
              </a:rPr>
              <a:t>게으름에 시대에 살고 있는 저는 항상 밥을 먹으러 가거나 수업을 하러 갈 때 세탁을 하고 돌아올 때 건조를 하는 등 동선을 최대한 아끼며 살아가고 있습니다</a:t>
            </a:r>
            <a:r>
              <a:rPr lang="en-US" altLang="ko-KR" sz="2000" noProof="0" dirty="0">
                <a:latin typeface="+mj-ea"/>
                <a:ea typeface="+mj-ea"/>
              </a:rPr>
              <a:t>. </a:t>
            </a:r>
            <a:r>
              <a:rPr lang="ko-KR" altLang="en-US" sz="2000" noProof="0" dirty="0">
                <a:latin typeface="+mj-ea"/>
                <a:ea typeface="+mj-ea"/>
              </a:rPr>
              <a:t>하지만 돌아오면서 휴대폰을 하거나 친구와 떠들다 보면 </a:t>
            </a:r>
            <a:r>
              <a:rPr lang="ko-KR" altLang="en-US" sz="2000" noProof="0" dirty="0" err="1">
                <a:latin typeface="+mj-ea"/>
                <a:ea typeface="+mj-ea"/>
              </a:rPr>
              <a:t>아맞다</a:t>
            </a:r>
            <a:r>
              <a:rPr lang="en-US" altLang="ko-KR" sz="2000" noProof="0" dirty="0">
                <a:latin typeface="+mj-ea"/>
                <a:ea typeface="+mj-ea"/>
              </a:rPr>
              <a:t>… </a:t>
            </a:r>
            <a:r>
              <a:rPr lang="ko-KR" altLang="en-US" sz="2000" noProof="0" dirty="0">
                <a:latin typeface="+mj-ea"/>
                <a:ea typeface="+mj-ea"/>
              </a:rPr>
              <a:t>빨래하는 것을 까먹곤 합니다</a:t>
            </a:r>
            <a:r>
              <a:rPr lang="en-US" altLang="ko-KR" sz="2000" noProof="0" dirty="0">
                <a:latin typeface="+mj-ea"/>
                <a:ea typeface="+mj-ea"/>
              </a:rPr>
              <a:t>. </a:t>
            </a:r>
            <a:r>
              <a:rPr lang="ko-KR" altLang="en-US" sz="2000" noProof="0" dirty="0">
                <a:latin typeface="+mj-ea"/>
                <a:ea typeface="+mj-ea"/>
              </a:rPr>
              <a:t>저희의 </a:t>
            </a:r>
            <a:r>
              <a:rPr lang="en-US" altLang="ko-KR" sz="2000" noProof="0" dirty="0">
                <a:latin typeface="+mj-ea"/>
                <a:ea typeface="+mj-ea"/>
              </a:rPr>
              <a:t>“</a:t>
            </a:r>
            <a:r>
              <a:rPr lang="ko-KR" altLang="en-US" sz="2000" noProof="0" dirty="0" err="1">
                <a:latin typeface="+mj-ea"/>
                <a:ea typeface="+mj-ea"/>
              </a:rPr>
              <a:t>아맞다</a:t>
            </a:r>
            <a:r>
              <a:rPr lang="en-US" altLang="ko-KR" sz="2000" noProof="0" dirty="0">
                <a:latin typeface="+mj-ea"/>
                <a:ea typeface="+mj-ea"/>
              </a:rPr>
              <a:t>”</a:t>
            </a:r>
            <a:r>
              <a:rPr lang="ko-KR" altLang="en-US" sz="2000" noProof="0" dirty="0">
                <a:latin typeface="+mj-ea"/>
                <a:ea typeface="+mj-ea"/>
              </a:rPr>
              <a:t>은 이러한 불편에서 시작하였습니다</a:t>
            </a:r>
            <a:r>
              <a:rPr lang="en-US" altLang="ko-KR" sz="2000" noProof="0" dirty="0">
                <a:latin typeface="+mj-ea"/>
                <a:ea typeface="+mj-ea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30716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000" noProof="0" dirty="0">
                <a:latin typeface="+mj-ea"/>
                <a:ea typeface="+mj-ea"/>
              </a:rPr>
              <a:t>저희 </a:t>
            </a:r>
            <a:r>
              <a:rPr lang="en-US" altLang="ko-KR" sz="2000" noProof="0" dirty="0">
                <a:latin typeface="+mj-ea"/>
                <a:ea typeface="+mj-ea"/>
              </a:rPr>
              <a:t>“</a:t>
            </a:r>
            <a:r>
              <a:rPr lang="ko-KR" altLang="en-US" sz="2000" noProof="0" dirty="0" err="1">
                <a:latin typeface="+mj-ea"/>
                <a:ea typeface="+mj-ea"/>
              </a:rPr>
              <a:t>아맞다</a:t>
            </a:r>
            <a:r>
              <a:rPr lang="en-US" altLang="ko-KR" sz="2000" noProof="0" dirty="0">
                <a:latin typeface="+mj-ea"/>
                <a:ea typeface="+mj-ea"/>
              </a:rPr>
              <a:t>”</a:t>
            </a:r>
            <a:r>
              <a:rPr lang="ko-KR" altLang="en-US" sz="2000" noProof="0" dirty="0">
                <a:latin typeface="+mj-ea"/>
                <a:ea typeface="+mj-ea"/>
              </a:rPr>
              <a:t>는 음성인식 서비스를 통해 기존의 시간 기반 알람이 아닌 위치 기반 알람을 제공합니다</a:t>
            </a:r>
            <a:r>
              <a:rPr lang="en-US" altLang="ko-KR" sz="2000" noProof="0" dirty="0">
                <a:latin typeface="+mj-ea"/>
                <a:ea typeface="+mj-ea"/>
              </a:rPr>
              <a:t>. </a:t>
            </a:r>
            <a:r>
              <a:rPr lang="ko-KR" altLang="en-US" sz="2000" noProof="0" dirty="0">
                <a:latin typeface="+mj-ea"/>
                <a:ea typeface="+mj-ea"/>
              </a:rPr>
              <a:t>사용자는 </a:t>
            </a:r>
            <a:r>
              <a:rPr lang="en-US" altLang="ko-KR" sz="2000" noProof="0" dirty="0">
                <a:latin typeface="+mj-ea"/>
                <a:ea typeface="+mj-ea"/>
              </a:rPr>
              <a:t>“</a:t>
            </a:r>
            <a:r>
              <a:rPr lang="ko-KR" altLang="en-US" sz="2000" noProof="0" dirty="0">
                <a:latin typeface="+mj-ea"/>
                <a:ea typeface="+mj-ea"/>
              </a:rPr>
              <a:t>하이 </a:t>
            </a:r>
            <a:r>
              <a:rPr lang="ko-KR" altLang="en-US" sz="2000" noProof="0" dirty="0" err="1">
                <a:latin typeface="+mj-ea"/>
                <a:ea typeface="+mj-ea"/>
              </a:rPr>
              <a:t>빅스비</a:t>
            </a:r>
            <a:r>
              <a:rPr lang="en-US" altLang="ko-KR" sz="2000" noProof="0" dirty="0">
                <a:latin typeface="+mj-ea"/>
                <a:ea typeface="+mj-ea"/>
              </a:rPr>
              <a:t>~ </a:t>
            </a:r>
            <a:r>
              <a:rPr lang="ko-KR" altLang="en-US" sz="2000" noProof="0" dirty="0">
                <a:latin typeface="+mj-ea"/>
                <a:ea typeface="+mj-ea"/>
              </a:rPr>
              <a:t>오후 </a:t>
            </a:r>
            <a:r>
              <a:rPr lang="en-US" altLang="ko-KR" sz="2000" noProof="0" dirty="0">
                <a:latin typeface="+mj-ea"/>
                <a:ea typeface="+mj-ea"/>
              </a:rPr>
              <a:t>8</a:t>
            </a:r>
            <a:r>
              <a:rPr lang="ko-KR" altLang="en-US" sz="2000" noProof="0" dirty="0">
                <a:latin typeface="+mj-ea"/>
                <a:ea typeface="+mj-ea"/>
              </a:rPr>
              <a:t>시 이후에 세탁소 </a:t>
            </a:r>
            <a:r>
              <a:rPr lang="ko-KR" altLang="en-US" sz="2000" noProof="0" dirty="0" err="1">
                <a:latin typeface="+mj-ea"/>
                <a:ea typeface="+mj-ea"/>
              </a:rPr>
              <a:t>지날때</a:t>
            </a:r>
            <a:r>
              <a:rPr lang="ko-KR" altLang="en-US" sz="2000" noProof="0" dirty="0">
                <a:latin typeface="+mj-ea"/>
                <a:ea typeface="+mj-ea"/>
              </a:rPr>
              <a:t> </a:t>
            </a:r>
            <a:r>
              <a:rPr lang="ko-KR" altLang="en-US" sz="2000" noProof="0" dirty="0" err="1">
                <a:latin typeface="+mj-ea"/>
                <a:ea typeface="+mj-ea"/>
              </a:rPr>
              <a:t>나한테</a:t>
            </a:r>
            <a:r>
              <a:rPr lang="ko-KR" altLang="en-US" sz="2000" noProof="0" dirty="0">
                <a:latin typeface="+mj-ea"/>
                <a:ea typeface="+mj-ea"/>
              </a:rPr>
              <a:t> 알려줘</a:t>
            </a:r>
            <a:r>
              <a:rPr lang="en-US" altLang="ko-KR" sz="2000" noProof="0" dirty="0">
                <a:latin typeface="+mj-ea"/>
                <a:ea typeface="+mj-ea"/>
              </a:rPr>
              <a:t>” </a:t>
            </a:r>
            <a:r>
              <a:rPr lang="ko-KR" altLang="en-US" sz="2000" noProof="0" dirty="0">
                <a:latin typeface="+mj-ea"/>
                <a:ea typeface="+mj-ea"/>
              </a:rPr>
              <a:t>라고 명령하면 </a:t>
            </a:r>
            <a:r>
              <a:rPr lang="ko-KR" altLang="en-US" sz="2000" noProof="0" dirty="0" err="1">
                <a:latin typeface="+mj-ea"/>
                <a:ea typeface="+mj-ea"/>
              </a:rPr>
              <a:t>빅스비는</a:t>
            </a:r>
            <a:r>
              <a:rPr lang="ko-KR" altLang="en-US" sz="2000" noProof="0" dirty="0">
                <a:latin typeface="+mj-ea"/>
                <a:ea typeface="+mj-ea"/>
              </a:rPr>
              <a:t> 위지정보를 계속하고 </a:t>
            </a:r>
            <a:r>
              <a:rPr lang="ko-KR" altLang="en-US" sz="2000" noProof="0" dirty="0" err="1">
                <a:latin typeface="+mj-ea"/>
                <a:ea typeface="+mj-ea"/>
              </a:rPr>
              <a:t>받게됩니다</a:t>
            </a:r>
            <a:r>
              <a:rPr lang="en-US" altLang="ko-KR" sz="2000" noProof="0" dirty="0">
                <a:latin typeface="+mj-ea"/>
                <a:ea typeface="+mj-ea"/>
              </a:rPr>
              <a:t>.</a:t>
            </a:r>
          </a:p>
          <a:p>
            <a:endParaRPr lang="en-US" altLang="ko-KR" sz="2000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04190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000" noProof="0" dirty="0">
                <a:latin typeface="+mj-ea"/>
                <a:ea typeface="+mj-ea"/>
              </a:rPr>
              <a:t>그 뒤 설정한 </a:t>
            </a:r>
            <a:r>
              <a:rPr lang="en-US" altLang="ko-KR" sz="2000" noProof="0" dirty="0">
                <a:latin typeface="+mj-ea"/>
                <a:ea typeface="+mj-ea"/>
              </a:rPr>
              <a:t>8</a:t>
            </a:r>
            <a:r>
              <a:rPr lang="ko-KR" altLang="en-US" sz="2000" noProof="0" dirty="0">
                <a:latin typeface="+mj-ea"/>
                <a:ea typeface="+mj-ea"/>
              </a:rPr>
              <a:t>시 이후에 세탁소 주변을 지나가게 되면 알람이 울리게 됩니다</a:t>
            </a:r>
            <a:r>
              <a:rPr lang="en-US" altLang="ko-KR" sz="2000" noProof="0" dirty="0">
                <a:latin typeface="+mj-ea"/>
                <a:ea typeface="+mj-ea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90567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3200" dirty="0"/>
              <a:t>다음으로 시장 잠재력에 대해 </a:t>
            </a:r>
            <a:r>
              <a:rPr lang="ko-KR" altLang="en-US" sz="3200" dirty="0" err="1"/>
              <a:t>설명드리겠습니다</a:t>
            </a:r>
            <a:r>
              <a:rPr lang="en-US" altLang="ko-KR" sz="3200" dirty="0"/>
              <a:t>. </a:t>
            </a:r>
            <a:r>
              <a:rPr lang="ko-KR" altLang="en-US" sz="3200" dirty="0"/>
              <a:t>데이터분석본부 선임연구원의 글에 따르면 아시아 국가별 음성 인식 시장규모는 계속해서 늘어날 전망입니다</a:t>
            </a:r>
            <a:r>
              <a:rPr lang="en-US" altLang="ko-KR" sz="3200" dirty="0"/>
              <a:t>. </a:t>
            </a:r>
            <a:r>
              <a:rPr lang="ko-KR" altLang="en-US" sz="3200" dirty="0"/>
              <a:t>이러한 상황속에서 </a:t>
            </a:r>
            <a:r>
              <a:rPr lang="ko-KR" altLang="en-US" sz="3200" dirty="0" err="1"/>
              <a:t>빅스비</a:t>
            </a:r>
            <a:r>
              <a:rPr lang="en-US" altLang="ko-KR" sz="3200" dirty="0"/>
              <a:t>, </a:t>
            </a:r>
            <a:r>
              <a:rPr lang="ko-KR" altLang="en-US" sz="3200" dirty="0"/>
              <a:t>시리 등과 같은 음성 서비스 플랫폼이 이미 시장을 개척해 놓은 상태이며</a:t>
            </a:r>
            <a:r>
              <a:rPr lang="en-US" altLang="ko-KR" sz="3200" dirty="0"/>
              <a:t>, </a:t>
            </a:r>
            <a:r>
              <a:rPr lang="ko-KR" altLang="en-US" sz="3200" dirty="0"/>
              <a:t>저희는 이러한 음성 서비스와 쉽게 융화할 수 있으므로 이미 개척된 시장에 대한 경쟁 할 필요가 없습니다</a:t>
            </a:r>
            <a:r>
              <a:rPr lang="en-US" altLang="ko-KR" sz="3200" dirty="0"/>
              <a:t>.</a:t>
            </a:r>
            <a:endParaRPr lang="ko-KR" altLang="en-US" sz="2000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9519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000" noProof="0" dirty="0">
                <a:latin typeface="+mj-ea"/>
                <a:ea typeface="+mj-ea"/>
              </a:rPr>
              <a:t>다음으로는 사용의 편의성 입니다</a:t>
            </a:r>
            <a:r>
              <a:rPr lang="en-US" altLang="ko-KR" sz="2000" noProof="0" dirty="0">
                <a:latin typeface="+mj-ea"/>
                <a:ea typeface="+mj-ea"/>
              </a:rPr>
              <a:t>. </a:t>
            </a:r>
            <a:r>
              <a:rPr lang="ko-KR" altLang="en-US" sz="2000" noProof="0" dirty="0">
                <a:latin typeface="+mj-ea"/>
                <a:ea typeface="+mj-ea"/>
              </a:rPr>
              <a:t>저희 </a:t>
            </a:r>
            <a:r>
              <a:rPr lang="ko-KR" altLang="en-US" sz="2000" noProof="0" dirty="0" err="1">
                <a:latin typeface="+mj-ea"/>
                <a:ea typeface="+mj-ea"/>
              </a:rPr>
              <a:t>아맞다는</a:t>
            </a:r>
            <a:r>
              <a:rPr lang="ko-KR" altLang="en-US" sz="2000" noProof="0" dirty="0">
                <a:latin typeface="+mj-ea"/>
                <a:ea typeface="+mj-ea"/>
              </a:rPr>
              <a:t> 단순한 음성으로 기능을 수행할 수 있으므로 남녀노소 누구나 이용할 수 있습니다</a:t>
            </a:r>
            <a:r>
              <a:rPr lang="en-US" altLang="ko-KR" sz="2000" noProof="0" dirty="0">
                <a:latin typeface="+mj-ea"/>
                <a:ea typeface="+mj-ea"/>
              </a:rPr>
              <a:t>.</a:t>
            </a:r>
            <a:endParaRPr lang="ko-KR" altLang="en-US" sz="2000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91841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000" noProof="0" dirty="0">
                <a:latin typeface="+mj-ea"/>
                <a:ea typeface="+mj-ea"/>
              </a:rPr>
              <a:t>다음으로 경쟁 우위에 대해 </a:t>
            </a:r>
            <a:r>
              <a:rPr lang="ko-KR" altLang="en-US" sz="2000" noProof="0" dirty="0" err="1">
                <a:latin typeface="+mj-ea"/>
                <a:ea typeface="+mj-ea"/>
              </a:rPr>
              <a:t>설명드리겠습니다</a:t>
            </a:r>
            <a:r>
              <a:rPr lang="en-US" altLang="ko-KR" sz="2000" noProof="0" dirty="0">
                <a:latin typeface="+mj-ea"/>
                <a:ea typeface="+mj-ea"/>
              </a:rPr>
              <a:t>.</a:t>
            </a:r>
          </a:p>
          <a:p>
            <a:r>
              <a:rPr lang="ko-KR" altLang="en-US" sz="2000" noProof="0" dirty="0">
                <a:latin typeface="+mj-ea"/>
                <a:ea typeface="+mj-ea"/>
              </a:rPr>
              <a:t>저희가 제안하는 </a:t>
            </a:r>
            <a:r>
              <a:rPr lang="ko-KR" altLang="en-US" sz="2000" noProof="0" dirty="0" err="1">
                <a:latin typeface="+mj-ea"/>
                <a:ea typeface="+mj-ea"/>
              </a:rPr>
              <a:t>아맞다</a:t>
            </a:r>
            <a:r>
              <a:rPr lang="ko-KR" altLang="en-US" sz="2000" noProof="0" dirty="0">
                <a:latin typeface="+mj-ea"/>
                <a:ea typeface="+mj-ea"/>
              </a:rPr>
              <a:t> 서비스는 자연어 처리 모델을 수정하는 것이 아니라 기존에 제공하는 모델을 통해 나온 출력을 이용하여 기능을 추가한 것이므로 모델을 수정하거나 파인 튜닝하는 등의 비용 없이 모델에 바로 적용이 가능합니다</a:t>
            </a:r>
            <a:r>
              <a:rPr lang="en-US" altLang="ko-KR" sz="2000" noProof="0" dirty="0">
                <a:latin typeface="+mj-ea"/>
                <a:ea typeface="+mj-ea"/>
              </a:rPr>
              <a:t>.</a:t>
            </a:r>
            <a:endParaRPr lang="ko-KR" altLang="en-US" sz="2000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7039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000" noProof="0" dirty="0">
                <a:latin typeface="+mj-ea"/>
                <a:ea typeface="+mj-ea"/>
              </a:rPr>
              <a:t>또한</a:t>
            </a:r>
            <a:r>
              <a:rPr lang="en-US" altLang="ko-KR" sz="2000" noProof="0" dirty="0">
                <a:latin typeface="+mj-ea"/>
                <a:ea typeface="+mj-ea"/>
              </a:rPr>
              <a:t>,</a:t>
            </a:r>
            <a:r>
              <a:rPr lang="ko-KR" altLang="en-US" sz="2000" noProof="0" dirty="0">
                <a:latin typeface="+mj-ea"/>
                <a:ea typeface="+mj-ea"/>
              </a:rPr>
              <a:t> 여러 기사에 의하면</a:t>
            </a:r>
            <a:r>
              <a:rPr lang="en-US" altLang="ko-KR" sz="2000" noProof="0" dirty="0">
                <a:latin typeface="+mj-ea"/>
                <a:ea typeface="+mj-ea"/>
              </a:rPr>
              <a:t>, </a:t>
            </a:r>
            <a:r>
              <a:rPr lang="ko-KR" altLang="en-US" sz="2000" noProof="0" dirty="0">
                <a:latin typeface="+mj-ea"/>
                <a:ea typeface="+mj-ea"/>
              </a:rPr>
              <a:t>여러 정보를 복합적으로 기억할 수록 기억력이 좋아진다고 합니다</a:t>
            </a:r>
            <a:r>
              <a:rPr lang="en-US" altLang="ko-KR" sz="2000" noProof="0" dirty="0">
                <a:latin typeface="+mj-ea"/>
                <a:ea typeface="+mj-ea"/>
              </a:rPr>
              <a:t>. </a:t>
            </a:r>
            <a:r>
              <a:rPr lang="ko-KR" altLang="en-US" sz="2000" noProof="0" dirty="0">
                <a:latin typeface="+mj-ea"/>
                <a:ea typeface="+mj-ea"/>
              </a:rPr>
              <a:t>시간에 대한 정보만을 설정하는 기존 알람에 비해 </a:t>
            </a:r>
            <a:r>
              <a:rPr lang="ko-KR" altLang="en-US" sz="2000" noProof="0" dirty="0" err="1">
                <a:latin typeface="+mj-ea"/>
                <a:ea typeface="+mj-ea"/>
              </a:rPr>
              <a:t>아맞다는</a:t>
            </a:r>
            <a:r>
              <a:rPr lang="ko-KR" altLang="en-US" sz="2000" noProof="0" dirty="0">
                <a:latin typeface="+mj-ea"/>
                <a:ea typeface="+mj-ea"/>
              </a:rPr>
              <a:t> 장소와 시간에 대한 정보가 복합적으로 설정하므로 사용자의 기억에 더 기존 알람에 비해 더 효과적입니다</a:t>
            </a:r>
            <a:r>
              <a:rPr lang="en-US" altLang="ko-KR" sz="2000" noProof="0" dirty="0">
                <a:latin typeface="+mj-ea"/>
                <a:ea typeface="+mj-ea"/>
              </a:rPr>
              <a:t>.</a:t>
            </a:r>
            <a:endParaRPr lang="ko-KR" altLang="en-US" sz="2000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63362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000" noProof="0" dirty="0">
                <a:latin typeface="+mj-ea"/>
                <a:ea typeface="+mj-ea"/>
              </a:rPr>
              <a:t>다음으로 기대효과에 대해서 </a:t>
            </a:r>
            <a:r>
              <a:rPr lang="ko-KR" altLang="en-US" sz="2000" noProof="0" dirty="0" err="1">
                <a:latin typeface="+mj-ea"/>
                <a:ea typeface="+mj-ea"/>
              </a:rPr>
              <a:t>설명드리겠습니다</a:t>
            </a:r>
            <a:r>
              <a:rPr lang="en-US" altLang="ko-KR" sz="2000" noProof="0" dirty="0">
                <a:latin typeface="+mj-ea"/>
                <a:ea typeface="+mj-ea"/>
              </a:rPr>
              <a:t>.</a:t>
            </a:r>
          </a:p>
          <a:p>
            <a:r>
              <a:rPr lang="ko-KR" altLang="en-US" sz="2000" noProof="0" dirty="0">
                <a:latin typeface="+mj-ea"/>
                <a:ea typeface="+mj-ea"/>
              </a:rPr>
              <a:t>바쁜 일상을 보낸 후 집에 도착했을 때 아 맞다</a:t>
            </a:r>
            <a:r>
              <a:rPr lang="en-US" altLang="ko-KR" sz="2000" noProof="0" dirty="0">
                <a:latin typeface="+mj-ea"/>
                <a:ea typeface="+mj-ea"/>
              </a:rPr>
              <a:t>~</a:t>
            </a:r>
            <a:r>
              <a:rPr lang="ko-KR" altLang="en-US" sz="2000" noProof="0" dirty="0">
                <a:latin typeface="+mj-ea"/>
                <a:ea typeface="+mj-ea"/>
              </a:rPr>
              <a:t>를 하며 다시 밖으로 나가는 수고를 덜어줍니다</a:t>
            </a:r>
            <a:r>
              <a:rPr lang="en-US" altLang="ko-KR" sz="2000" noProof="0" dirty="0">
                <a:latin typeface="+mj-ea"/>
                <a:ea typeface="+mj-ea"/>
              </a:rPr>
              <a:t>. </a:t>
            </a:r>
            <a:r>
              <a:rPr lang="ko-KR" altLang="en-US" sz="2000" noProof="0" dirty="0">
                <a:latin typeface="+mj-ea"/>
                <a:ea typeface="+mj-ea"/>
              </a:rPr>
              <a:t>이를 통해 사용자는 시간을 절약합니다</a:t>
            </a:r>
            <a:r>
              <a:rPr lang="en-US" altLang="ko-KR" sz="2000" noProof="0" dirty="0">
                <a:latin typeface="+mj-ea"/>
                <a:ea typeface="+mj-ea"/>
              </a:rPr>
              <a:t>.</a:t>
            </a:r>
          </a:p>
          <a:p>
            <a:r>
              <a:rPr lang="ko-KR" altLang="en-US" sz="2000" noProof="0" dirty="0">
                <a:latin typeface="+mj-ea"/>
                <a:ea typeface="+mj-ea"/>
              </a:rPr>
              <a:t>예를 들어 퇴근을 하고 여행에 가는 길에 고속터미널 약국에 들려 멀미약을 </a:t>
            </a:r>
            <a:r>
              <a:rPr lang="ko-KR" altLang="en-US" sz="2000" noProof="0" dirty="0" err="1">
                <a:latin typeface="+mj-ea"/>
                <a:ea typeface="+mj-ea"/>
              </a:rPr>
              <a:t>사야하는데</a:t>
            </a:r>
            <a:r>
              <a:rPr lang="ko-KR" altLang="en-US" sz="2000" noProof="0" dirty="0">
                <a:latin typeface="+mj-ea"/>
                <a:ea typeface="+mj-ea"/>
              </a:rPr>
              <a:t> 탑승전에 아 맞다</a:t>
            </a:r>
            <a:r>
              <a:rPr lang="en-US" altLang="ko-KR" sz="2000" noProof="0" dirty="0">
                <a:latin typeface="+mj-ea"/>
                <a:ea typeface="+mj-ea"/>
              </a:rPr>
              <a:t>~(</a:t>
            </a:r>
            <a:r>
              <a:rPr lang="ko-KR" altLang="en-US" sz="2000" noProof="0" dirty="0">
                <a:latin typeface="+mj-ea"/>
                <a:ea typeface="+mj-ea"/>
              </a:rPr>
              <a:t>이마를 </a:t>
            </a:r>
            <a:r>
              <a:rPr lang="ko-KR" altLang="en-US" sz="2000" noProof="0" dirty="0" err="1">
                <a:latin typeface="+mj-ea"/>
                <a:ea typeface="+mj-ea"/>
              </a:rPr>
              <a:t>탁치며</a:t>
            </a:r>
            <a:r>
              <a:rPr lang="en-US" altLang="ko-KR" sz="2000" noProof="0" dirty="0">
                <a:latin typeface="+mj-ea"/>
                <a:ea typeface="+mj-ea"/>
              </a:rPr>
              <a:t>)</a:t>
            </a:r>
            <a:r>
              <a:rPr lang="ko-KR" altLang="en-US" sz="2000" noProof="0" dirty="0">
                <a:latin typeface="+mj-ea"/>
                <a:ea typeface="+mj-ea"/>
              </a:rPr>
              <a:t>를 하는 친구의 모습을 상상해보십시오</a:t>
            </a:r>
            <a:endParaRPr lang="en-US" altLang="ko-KR" sz="2000" noProof="0" dirty="0">
              <a:latin typeface="+mj-ea"/>
              <a:ea typeface="+mj-ea"/>
            </a:endParaRPr>
          </a:p>
          <a:p>
            <a:r>
              <a:rPr lang="ko-KR" altLang="en-US" sz="2000" noProof="0" dirty="0">
                <a:latin typeface="+mj-ea"/>
                <a:ea typeface="+mj-ea"/>
              </a:rPr>
              <a:t>진짜 화가 들끓지 않습니까</a:t>
            </a:r>
            <a:r>
              <a:rPr lang="en-US" altLang="ko-KR" sz="2000" noProof="0" dirty="0">
                <a:latin typeface="+mj-ea"/>
                <a:ea typeface="+mj-ea"/>
              </a:rPr>
              <a:t>? </a:t>
            </a:r>
            <a:r>
              <a:rPr lang="ko-KR" altLang="en-US" sz="2000" noProof="0" dirty="0">
                <a:latin typeface="+mj-ea"/>
                <a:ea typeface="+mj-ea"/>
              </a:rPr>
              <a:t>혹은 답답하시지 않습니까</a:t>
            </a:r>
            <a:r>
              <a:rPr lang="en-US" altLang="ko-KR" sz="2000" noProof="0" dirty="0">
                <a:latin typeface="+mj-ea"/>
                <a:ea typeface="+mj-ea"/>
              </a:rPr>
              <a:t>? </a:t>
            </a:r>
            <a:r>
              <a:rPr lang="ko-KR" altLang="en-US" sz="2000" noProof="0" dirty="0">
                <a:latin typeface="+mj-ea"/>
                <a:ea typeface="+mj-ea"/>
              </a:rPr>
              <a:t>또한 차를 놓쳤다고 생각해보십시오 이보다도 황당할 수 있겠습니까</a:t>
            </a:r>
            <a:r>
              <a:rPr lang="en-US" altLang="ko-KR" sz="2000" noProof="0" dirty="0">
                <a:latin typeface="+mj-ea"/>
                <a:ea typeface="+mj-ea"/>
              </a:rPr>
              <a:t>. </a:t>
            </a:r>
            <a:r>
              <a:rPr lang="ko-KR" altLang="en-US" sz="2000" noProof="0" dirty="0" err="1">
                <a:latin typeface="+mj-ea"/>
                <a:ea typeface="+mj-ea"/>
              </a:rPr>
              <a:t>아맞다</a:t>
            </a:r>
            <a:r>
              <a:rPr lang="ko-KR" altLang="en-US" sz="2000" noProof="0" dirty="0">
                <a:latin typeface="+mj-ea"/>
                <a:ea typeface="+mj-ea"/>
              </a:rPr>
              <a:t> 서비스를 사용하면 이런 불상사가 일어나는 것을 방지할 수 있습니다</a:t>
            </a:r>
            <a:r>
              <a:rPr lang="en-US" altLang="ko-KR" sz="2000" noProof="0" dirty="0">
                <a:latin typeface="+mj-ea"/>
                <a:ea typeface="+mj-ea"/>
              </a:rPr>
              <a:t>.</a:t>
            </a:r>
            <a:r>
              <a:rPr lang="ko-KR" altLang="en-US" sz="2000" noProof="0" dirty="0">
                <a:latin typeface="+mj-ea"/>
                <a:ea typeface="+mj-ea"/>
              </a:rPr>
              <a:t> </a:t>
            </a:r>
            <a:endParaRPr lang="en-US" altLang="ko-KR" sz="2000" noProof="0" dirty="0">
              <a:latin typeface="+mj-ea"/>
              <a:ea typeface="+mj-ea"/>
            </a:endParaRPr>
          </a:p>
          <a:p>
            <a:endParaRPr lang="en-US" altLang="ko-KR" sz="2000" noProof="0" dirty="0">
              <a:latin typeface="+mj-ea"/>
              <a:ea typeface="+mj-ea"/>
            </a:endParaRPr>
          </a:p>
          <a:p>
            <a:r>
              <a:rPr lang="ko-KR" altLang="en-US" sz="2000" noProof="0" dirty="0">
                <a:latin typeface="+mj-ea"/>
                <a:ea typeface="+mj-ea"/>
              </a:rPr>
              <a:t>원하는 제품을 찾을 때 전화로 매장에 직접 전화하지 않고 앱을 통해 찾지 않아도 </a:t>
            </a:r>
            <a:endParaRPr lang="en-US" altLang="ko-KR" sz="2000" noProof="0" dirty="0">
              <a:latin typeface="+mj-ea"/>
              <a:ea typeface="+mj-ea"/>
            </a:endParaRPr>
          </a:p>
          <a:p>
            <a:r>
              <a:rPr lang="ko-KR" altLang="en-US" sz="2000" noProof="0" dirty="0">
                <a:latin typeface="+mj-ea"/>
                <a:ea typeface="+mj-ea"/>
              </a:rPr>
              <a:t>일상생활 중에서 </a:t>
            </a:r>
            <a:r>
              <a:rPr lang="ko-KR" altLang="en-US" sz="2000" noProof="0" dirty="0" err="1">
                <a:latin typeface="+mj-ea"/>
                <a:ea typeface="+mj-ea"/>
              </a:rPr>
              <a:t>아맞다</a:t>
            </a:r>
            <a:r>
              <a:rPr lang="ko-KR" altLang="en-US" sz="2000" noProof="0" dirty="0">
                <a:latin typeface="+mj-ea"/>
                <a:ea typeface="+mj-ea"/>
              </a:rPr>
              <a:t> 서비스가 </a:t>
            </a:r>
            <a:r>
              <a:rPr lang="en-US" altLang="ko-KR" sz="2000" noProof="0" dirty="0">
                <a:latin typeface="+mj-ea"/>
                <a:ea typeface="+mj-ea"/>
              </a:rPr>
              <a:t>GS</a:t>
            </a:r>
            <a:r>
              <a:rPr lang="ko-KR" altLang="en-US" sz="2000" noProof="0" dirty="0">
                <a:latin typeface="+mj-ea"/>
                <a:ea typeface="+mj-ea"/>
              </a:rPr>
              <a:t>편의점과 연동하여 필요 제품이 있는 장소를 지날 때 자동으로 위치 기반 알람 서비스를 제공하여 물품을 쉽게 구매 할 수 있다</a:t>
            </a:r>
            <a:r>
              <a:rPr lang="en-US" altLang="ko-KR" sz="2000" noProof="0" dirty="0">
                <a:latin typeface="+mj-ea"/>
                <a:ea typeface="+mj-ea"/>
              </a:rPr>
              <a:t>.</a:t>
            </a:r>
          </a:p>
          <a:p>
            <a:endParaRPr lang="ko-KR" altLang="en-US" sz="2000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8027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noProof="0" dirty="0">
                <a:latin typeface="+mj-ea"/>
                <a:ea typeface="+mj-ea"/>
              </a:rPr>
              <a:t>다음으로 기대효과에 대해서 </a:t>
            </a:r>
            <a:r>
              <a:rPr lang="ko-KR" altLang="en-US" sz="1200" noProof="0" dirty="0" err="1">
                <a:latin typeface="+mj-ea"/>
                <a:ea typeface="+mj-ea"/>
              </a:rPr>
              <a:t>설명드리겠습니다</a:t>
            </a:r>
            <a:r>
              <a:rPr lang="en-US" altLang="ko-KR" sz="1200" noProof="0" dirty="0">
                <a:latin typeface="+mj-ea"/>
                <a:ea typeface="+mj-ea"/>
              </a:rPr>
              <a:t>.</a:t>
            </a:r>
          </a:p>
          <a:p>
            <a:endParaRPr lang="en-US" altLang="ko-KR" noProof="0" dirty="0">
              <a:latin typeface="+mj-ea"/>
              <a:ea typeface="+mj-ea"/>
            </a:endParaRPr>
          </a:p>
          <a:p>
            <a:r>
              <a:rPr lang="ko-KR" altLang="en-US" noProof="0" dirty="0">
                <a:latin typeface="+mj-ea"/>
                <a:ea typeface="+mj-ea"/>
              </a:rPr>
              <a:t>그래서 저희 팀은 이 서비스를 스마트폰 회사 중 </a:t>
            </a:r>
            <a:r>
              <a:rPr lang="en-US" altLang="ko-KR" noProof="0" dirty="0">
                <a:latin typeface="+mj-ea"/>
                <a:ea typeface="+mj-ea"/>
              </a:rPr>
              <a:t>Bixby</a:t>
            </a:r>
            <a:r>
              <a:rPr lang="ko-KR" altLang="en-US" noProof="0" dirty="0">
                <a:latin typeface="+mj-ea"/>
                <a:ea typeface="+mj-ea"/>
              </a:rPr>
              <a:t>와 같이 음성 명령 서비스에 옵션을 추가하는 사업을 따는 것이 최종 목표입니다</a:t>
            </a:r>
            <a:r>
              <a:rPr lang="en-US" altLang="ko-KR" noProof="0" dirty="0">
                <a:latin typeface="+mj-ea"/>
                <a:ea typeface="+mj-ea"/>
              </a:rPr>
              <a:t>.</a:t>
            </a:r>
          </a:p>
          <a:p>
            <a:r>
              <a:rPr lang="ko-KR" altLang="en-US" noProof="0" dirty="0">
                <a:latin typeface="+mj-ea"/>
                <a:ea typeface="+mj-ea"/>
              </a:rPr>
              <a:t>또한 장기적으로 편의시설과 연동하여 다양한 서비스를 추가하는 방향으로 나아가 저희 상품가치를 높여 지속적인 관계를 맺는 것이 최종 목표입니다</a:t>
            </a:r>
            <a:r>
              <a:rPr lang="en-US" altLang="ko-KR" noProof="0" dirty="0">
                <a:latin typeface="+mj-ea"/>
                <a:ea typeface="+mj-ea"/>
              </a:rPr>
              <a:t>.</a:t>
            </a:r>
            <a:r>
              <a:rPr lang="ko-KR" altLang="en-US" noProof="0" dirty="0">
                <a:latin typeface="+mj-ea"/>
                <a:ea typeface="+mj-ea"/>
              </a:rPr>
              <a:t> </a:t>
            </a:r>
            <a:endParaRPr lang="en-US" altLang="ko-KR" noProof="0" dirty="0">
              <a:latin typeface="+mj-ea"/>
              <a:ea typeface="+mj-ea"/>
            </a:endParaRPr>
          </a:p>
          <a:p>
            <a:endParaRPr lang="en-US" altLang="ko-KR" noProof="0" dirty="0">
              <a:latin typeface="+mj-ea"/>
              <a:ea typeface="+mj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noProof="0" dirty="0" err="1">
                <a:latin typeface="+mj-ea"/>
                <a:ea typeface="+mj-ea"/>
              </a:rPr>
              <a:t>아맞다</a:t>
            </a:r>
            <a:r>
              <a:rPr lang="ko-KR" altLang="en-US" noProof="0" dirty="0">
                <a:latin typeface="+mj-ea"/>
                <a:ea typeface="+mj-ea"/>
              </a:rPr>
              <a:t> 서비스를 통해 중요한 일정을 놓치지 않고 삶을 편리하게 만들어 준다면 충분히 </a:t>
            </a:r>
            <a:r>
              <a:rPr lang="ko-KR" altLang="en-US" noProof="0" dirty="0" err="1">
                <a:latin typeface="+mj-ea"/>
                <a:ea typeface="+mj-ea"/>
              </a:rPr>
              <a:t>경쟁력있는</a:t>
            </a:r>
            <a:r>
              <a:rPr lang="ko-KR" altLang="en-US" noProof="0" dirty="0">
                <a:latin typeface="+mj-ea"/>
                <a:ea typeface="+mj-ea"/>
              </a:rPr>
              <a:t> 상품이라고 생각합니다</a:t>
            </a:r>
            <a:r>
              <a:rPr lang="en-US" altLang="ko-KR" noProof="0" dirty="0">
                <a:latin typeface="+mj-ea"/>
                <a:ea typeface="+mj-ea"/>
              </a:rPr>
              <a:t>.</a:t>
            </a:r>
          </a:p>
          <a:p>
            <a:endParaRPr lang="en-US" altLang="ko-KR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41383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ko-KR" altLang="en-US" noProof="0" dirty="0">
                <a:latin typeface="+mj-ea"/>
                <a:ea typeface="+mj-ea"/>
              </a:rPr>
              <a:t>이상</a:t>
            </a:r>
            <a:r>
              <a:rPr lang="en-US" altLang="ko-KR" noProof="0" dirty="0">
                <a:latin typeface="+mj-ea"/>
                <a:ea typeface="+mj-ea"/>
              </a:rPr>
              <a:t> 10</a:t>
            </a:r>
            <a:r>
              <a:rPr lang="ko-KR" altLang="en-US" noProof="0" dirty="0">
                <a:latin typeface="+mj-ea"/>
                <a:ea typeface="+mj-ea"/>
              </a:rPr>
              <a:t>팀 발표를 마치겠습니다</a:t>
            </a:r>
            <a:r>
              <a:rPr lang="en-US" altLang="ko-KR" noProof="0" dirty="0">
                <a:latin typeface="+mj-ea"/>
                <a:ea typeface="+mj-ea"/>
              </a:rPr>
              <a:t>.</a:t>
            </a:r>
            <a:r>
              <a:rPr lang="ko-KR" altLang="en-US" noProof="0" dirty="0">
                <a:latin typeface="+mj-ea"/>
                <a:ea typeface="+mj-ea"/>
              </a:rPr>
              <a:t> 감사합니다</a:t>
            </a:r>
            <a:r>
              <a:rPr lang="en-US" altLang="ko-KR" noProof="0" dirty="0">
                <a:latin typeface="+mj-ea"/>
                <a:ea typeface="+mj-ea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9105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grpSp>
        <p:nvGrpSpPr>
          <p:cNvPr id="3" name="그룹 1001">
            <a:extLst>
              <a:ext uri="{FF2B5EF4-FFF2-40B4-BE49-F238E27FC236}">
                <a16:creationId xmlns:a16="http://schemas.microsoft.com/office/drawing/2014/main" id="{B4E88A1F-F45F-5D69-1672-8DC5062CC651}"/>
              </a:ext>
            </a:extLst>
          </p:cNvPr>
          <p:cNvGrpSpPr/>
          <p:nvPr userDrawn="1"/>
        </p:nvGrpSpPr>
        <p:grpSpPr>
          <a:xfrm>
            <a:off x="3564463" y="1691013"/>
            <a:ext cx="4940709" cy="4126281"/>
            <a:chOff x="6057143" y="2615126"/>
            <a:chExt cx="6171429" cy="5055462"/>
          </a:xfrm>
        </p:grpSpPr>
        <p:pic>
          <p:nvPicPr>
            <p:cNvPr id="4" name="Object 2">
              <a:extLst>
                <a:ext uri="{FF2B5EF4-FFF2-40B4-BE49-F238E27FC236}">
                  <a16:creationId xmlns:a16="http://schemas.microsoft.com/office/drawing/2014/main" id="{2F3C2EFB-D0D6-A0FF-7562-5E95538CC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7143" y="2615126"/>
              <a:ext cx="6171429" cy="5055462"/>
            </a:xfrm>
            <a:prstGeom prst="rect">
              <a:avLst/>
            </a:prstGeom>
          </p:spPr>
        </p:pic>
      </p:grpSp>
      <p:grpSp>
        <p:nvGrpSpPr>
          <p:cNvPr id="5" name="그룹 1003">
            <a:extLst>
              <a:ext uri="{FF2B5EF4-FFF2-40B4-BE49-F238E27FC236}">
                <a16:creationId xmlns:a16="http://schemas.microsoft.com/office/drawing/2014/main" id="{FC9D7D64-3701-8AA3-E01A-B40F1DAAEAF6}"/>
              </a:ext>
            </a:extLst>
          </p:cNvPr>
          <p:cNvGrpSpPr/>
          <p:nvPr userDrawn="1"/>
        </p:nvGrpSpPr>
        <p:grpSpPr>
          <a:xfrm>
            <a:off x="4459256" y="6013109"/>
            <a:ext cx="3276600" cy="469405"/>
            <a:chOff x="11492857" y="644144"/>
            <a:chExt cx="6171429" cy="827985"/>
          </a:xfrm>
        </p:grpSpPr>
        <p:pic>
          <p:nvPicPr>
            <p:cNvPr id="6" name="Object 8">
              <a:extLst>
                <a:ext uri="{FF2B5EF4-FFF2-40B4-BE49-F238E27FC236}">
                  <a16:creationId xmlns:a16="http://schemas.microsoft.com/office/drawing/2014/main" id="{99AF3445-4DE4-6CFD-583C-A440A256D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92857" y="644144"/>
              <a:ext cx="6171429" cy="8279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8F4B0833-A870-4511-8AA7-7579D84C1C26}"/>
              </a:ext>
            </a:extLst>
          </p:cNvPr>
          <p:cNvSpPr/>
          <p:nvPr userDrawn="1"/>
        </p:nvSpPr>
        <p:spPr>
          <a:xfrm>
            <a:off x="-12256" y="0"/>
            <a:ext cx="12204256" cy="685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두 번째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세 번째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네 번째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grpSp>
        <p:nvGrpSpPr>
          <p:cNvPr id="2" name="그룹 1003">
            <a:extLst>
              <a:ext uri="{FF2B5EF4-FFF2-40B4-BE49-F238E27FC236}">
                <a16:creationId xmlns:a16="http://schemas.microsoft.com/office/drawing/2014/main" id="{52D9FE00-CA28-034D-01A5-71C9FFC71508}"/>
              </a:ext>
            </a:extLst>
          </p:cNvPr>
          <p:cNvGrpSpPr/>
          <p:nvPr userDrawn="1"/>
        </p:nvGrpSpPr>
        <p:grpSpPr>
          <a:xfrm>
            <a:off x="4459256" y="6013109"/>
            <a:ext cx="3276600" cy="469405"/>
            <a:chOff x="11492857" y="644144"/>
            <a:chExt cx="6171429" cy="827985"/>
          </a:xfrm>
        </p:grpSpPr>
        <p:pic>
          <p:nvPicPr>
            <p:cNvPr id="5" name="Object 8">
              <a:extLst>
                <a:ext uri="{FF2B5EF4-FFF2-40B4-BE49-F238E27FC236}">
                  <a16:creationId xmlns:a16="http://schemas.microsoft.com/office/drawing/2014/main" id="{E92EC7EB-DDD6-69FC-1B9C-F5E419BC8F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92857" y="644144"/>
              <a:ext cx="6171429" cy="827985"/>
            </a:xfrm>
            <a:prstGeom prst="rect">
              <a:avLst/>
            </a:prstGeom>
          </p:spPr>
        </p:pic>
      </p:grpSp>
      <p:grpSp>
        <p:nvGrpSpPr>
          <p:cNvPr id="11" name="그룹 1001">
            <a:extLst>
              <a:ext uri="{FF2B5EF4-FFF2-40B4-BE49-F238E27FC236}">
                <a16:creationId xmlns:a16="http://schemas.microsoft.com/office/drawing/2014/main" id="{E2145787-F8BE-DC7A-A889-F9D0395BA3B5}"/>
              </a:ext>
            </a:extLst>
          </p:cNvPr>
          <p:cNvGrpSpPr/>
          <p:nvPr userDrawn="1"/>
        </p:nvGrpSpPr>
        <p:grpSpPr>
          <a:xfrm>
            <a:off x="3564463" y="1691013"/>
            <a:ext cx="4940709" cy="4126281"/>
            <a:chOff x="6057143" y="2615126"/>
            <a:chExt cx="6171429" cy="5055462"/>
          </a:xfrm>
        </p:grpSpPr>
        <p:pic>
          <p:nvPicPr>
            <p:cNvPr id="13" name="Object 2">
              <a:extLst>
                <a:ext uri="{FF2B5EF4-FFF2-40B4-BE49-F238E27FC236}">
                  <a16:creationId xmlns:a16="http://schemas.microsoft.com/office/drawing/2014/main" id="{51495CAB-F499-4164-2066-2B405BF03F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57143" y="2615126"/>
              <a:ext cx="6171429" cy="50554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858365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두 번째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세 번째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네 번째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EC582D7-D948-5164-D196-4677A809A5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spAutoFit/>
          </a:bodyPr>
          <a:lstStyle/>
          <a:p>
            <a:pPr algn="l"/>
            <a:endParaRPr lang="ko-KR" altLang="en-US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5889F8F-20D4-73D9-BE65-1D710C26B112}"/>
              </a:ext>
            </a:extLst>
          </p:cNvPr>
          <p:cNvGrpSpPr/>
          <p:nvPr/>
        </p:nvGrpSpPr>
        <p:grpSpPr>
          <a:xfrm>
            <a:off x="390771" y="401520"/>
            <a:ext cx="11410457" cy="6540081"/>
            <a:chOff x="362761" y="313066"/>
            <a:chExt cx="11410457" cy="654008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FB6C7AF-0A1F-3A00-8BFF-5252C46E1315}"/>
                </a:ext>
              </a:extLst>
            </p:cNvPr>
            <p:cNvSpPr/>
            <p:nvPr/>
          </p:nvSpPr>
          <p:spPr>
            <a:xfrm>
              <a:off x="362761" y="313066"/>
              <a:ext cx="11410457" cy="6540081"/>
            </a:xfrm>
            <a:prstGeom prst="rect">
              <a:avLst/>
            </a:prstGeom>
            <a:grpFill/>
            <a:ln>
              <a:noFill/>
            </a:ln>
            <a:effectLst>
              <a:outerShdw blurRad="2159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7" name="대각선 줄무늬 6">
              <a:extLst>
                <a:ext uri="{FF2B5EF4-FFF2-40B4-BE49-F238E27FC236}">
                  <a16:creationId xmlns:a16="http://schemas.microsoft.com/office/drawing/2014/main" id="{1BBCDBDF-A1AC-FB29-E906-E701056985B0}"/>
                </a:ext>
              </a:extLst>
            </p:cNvPr>
            <p:cNvSpPr/>
            <p:nvPr/>
          </p:nvSpPr>
          <p:spPr>
            <a:xfrm rot="16200000">
              <a:off x="385502" y="4675147"/>
              <a:ext cx="2160000" cy="2196000"/>
            </a:xfrm>
            <a:prstGeom prst="diagStripe">
              <a:avLst>
                <a:gd name="adj" fmla="val 53476"/>
              </a:avLst>
            </a:prstGeom>
            <a:grpFill/>
            <a:ln>
              <a:noFill/>
            </a:ln>
            <a:effectLst>
              <a:outerShdw blurRad="2032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8"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0D4376E-9D88-5A09-E71D-14B99AD2A151}"/>
                </a:ext>
              </a:extLst>
            </p:cNvPr>
            <p:cNvSpPr/>
            <p:nvPr/>
          </p:nvSpPr>
          <p:spPr>
            <a:xfrm>
              <a:off x="434595" y="579171"/>
              <a:ext cx="7114650" cy="398892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endParaRPr lang="en-US" altLang="ko-KR" sz="1600" kern="0" spc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여기어때 잘난체" panose="020B0600000101010101" pitchFamily="50" charset="-127"/>
                <a:ea typeface="여기어때 잘난체" panose="020B0600000101010101" pitchFamily="50" charset="-127"/>
              </a:endParaRPr>
            </a:p>
          </p:txBody>
        </p:sp>
      </p:grpSp>
      <p:pic>
        <p:nvPicPr>
          <p:cNvPr id="9" name="Object 5">
            <a:extLst>
              <a:ext uri="{FF2B5EF4-FFF2-40B4-BE49-F238E27FC236}">
                <a16:creationId xmlns:a16="http://schemas.microsoft.com/office/drawing/2014/main" id="{005D9860-B53E-C876-46D1-ABE6872EBEC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917828" y="2827740"/>
            <a:ext cx="6828366" cy="7225784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AD81939-87A6-3650-2E68-3E071682F65A}"/>
              </a:ext>
            </a:extLst>
          </p:cNvPr>
          <p:cNvSpPr/>
          <p:nvPr/>
        </p:nvSpPr>
        <p:spPr>
          <a:xfrm>
            <a:off x="730975" y="670624"/>
            <a:ext cx="6687987" cy="702995"/>
          </a:xfrm>
          <a:prstGeom prst="roundRect">
            <a:avLst/>
          </a:prstGeom>
          <a:solidFill>
            <a:srgbClr val="0F1F6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여기어때 잘난체" panose="020B0600000101010101" pitchFamily="50" charset="-127"/>
                <a:ea typeface="여기어때 잘난체" panose="020B0600000101010101" pitchFamily="50" charset="-127"/>
              </a:rPr>
              <a:t>경기대학교 </a:t>
            </a:r>
            <a:r>
              <a:rPr lang="en-US" altLang="ko-KR" sz="2800" dirty="0">
                <a:solidFill>
                  <a:schemeClr val="bg1"/>
                </a:solidFill>
                <a:latin typeface="여기어때 잘난체" panose="020B0600000101010101" pitchFamily="50" charset="-127"/>
                <a:ea typeface="여기어때 잘난체" panose="020B0600000101010101" pitchFamily="50" charset="-127"/>
              </a:rPr>
              <a:t>AI </a:t>
            </a:r>
            <a:r>
              <a:rPr lang="en-US" altLang="ko-KR" sz="1600" kern="0" spc="0" dirty="0">
                <a:solidFill>
                  <a:schemeClr val="bg1"/>
                </a:solidFill>
                <a:effectLst/>
                <a:latin typeface="여기어때 잘난체" panose="020B0600000101010101" pitchFamily="50" charset="-127"/>
                <a:ea typeface="여기어때 잘난체" panose="020B0600000101010101" pitchFamily="50" charset="-127"/>
              </a:rPr>
              <a:t>·</a:t>
            </a:r>
            <a:r>
              <a:rPr lang="en-US" altLang="ko-KR" sz="2800" dirty="0">
                <a:solidFill>
                  <a:schemeClr val="bg1"/>
                </a:solidFill>
                <a:latin typeface="여기어때 잘난체" panose="020B0600000101010101" pitchFamily="50" charset="-127"/>
                <a:ea typeface="여기어때 잘난체" panose="020B0600000101010101" pitchFamily="50" charset="-127"/>
              </a:rPr>
              <a:t>SW </a:t>
            </a:r>
            <a:r>
              <a:rPr lang="ko-KR" altLang="en-US" sz="2800" dirty="0">
                <a:solidFill>
                  <a:schemeClr val="bg1"/>
                </a:solidFill>
                <a:latin typeface="여기어때 잘난체" panose="020B0600000101010101" pitchFamily="50" charset="-127"/>
                <a:ea typeface="여기어때 잘난체" panose="020B0600000101010101" pitchFamily="50" charset="-127"/>
              </a:rPr>
              <a:t>아이디어 창업 캠프</a:t>
            </a:r>
            <a:endParaRPr lang="en-US" altLang="ko-KR" sz="1600" kern="0" spc="0" dirty="0">
              <a:solidFill>
                <a:schemeClr val="bg1"/>
              </a:solidFill>
              <a:effectLst/>
              <a:latin typeface="여기어때 잘난체" panose="020B0600000101010101" pitchFamily="50" charset="-127"/>
              <a:ea typeface="여기어때 잘난체" panose="020B0600000101010101" pitchFamily="50" charset="-127"/>
            </a:endParaRPr>
          </a:p>
        </p:txBody>
      </p:sp>
      <p:grpSp>
        <p:nvGrpSpPr>
          <p:cNvPr id="11" name="그룹 1013">
            <a:extLst>
              <a:ext uri="{FF2B5EF4-FFF2-40B4-BE49-F238E27FC236}">
                <a16:creationId xmlns:a16="http://schemas.microsoft.com/office/drawing/2014/main" id="{7DF7C09B-9A83-AA28-6F26-47207D4F41AF}"/>
              </a:ext>
            </a:extLst>
          </p:cNvPr>
          <p:cNvGrpSpPr/>
          <p:nvPr/>
        </p:nvGrpSpPr>
        <p:grpSpPr>
          <a:xfrm>
            <a:off x="7661419" y="4074356"/>
            <a:ext cx="5148321" cy="5462380"/>
            <a:chOff x="5738082" y="7171245"/>
            <a:chExt cx="5148321" cy="5462380"/>
          </a:xfrm>
        </p:grpSpPr>
        <p:pic>
          <p:nvPicPr>
            <p:cNvPr id="12" name="Object 46">
              <a:extLst>
                <a:ext uri="{FF2B5EF4-FFF2-40B4-BE49-F238E27FC236}">
                  <a16:creationId xmlns:a16="http://schemas.microsoft.com/office/drawing/2014/main" id="{EF7B7871-F716-CAF6-5320-A62D17AA7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38082" y="7171245"/>
              <a:ext cx="5148321" cy="5462380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0BC182D-8BE3-A996-78FD-58649588B2DF}"/>
              </a:ext>
            </a:extLst>
          </p:cNvPr>
          <p:cNvSpPr txBox="1"/>
          <p:nvPr/>
        </p:nvSpPr>
        <p:spPr>
          <a:xfrm>
            <a:off x="3943093" y="2770872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sz="2000" b="1" dirty="0">
              <a:effectLst>
                <a:outerShdw blurRad="50800" dist="50800" dir="5400000" algn="ctr" rotWithShape="0">
                  <a:schemeClr val="tx1">
                    <a:lumMod val="50000"/>
                    <a:lumOff val="50000"/>
                  </a:schemeClr>
                </a:outerShdw>
              </a:effectLst>
              <a:latin typeface="Malgun Gothic Semilight" panose="020B0503020000020004" pitchFamily="34" charset="-127"/>
              <a:ea typeface="Malgun Gothic Semilight" panose="020B0503020000020004" pitchFamily="34" charset="-127"/>
              <a:cs typeface="Malgun Gothic Semilight" panose="020B0503020000020004" pitchFamily="34" charset="-127"/>
            </a:endParaRPr>
          </a:p>
        </p:txBody>
      </p:sp>
      <p:grpSp>
        <p:nvGrpSpPr>
          <p:cNvPr id="18" name="그룹 1002">
            <a:extLst>
              <a:ext uri="{FF2B5EF4-FFF2-40B4-BE49-F238E27FC236}">
                <a16:creationId xmlns:a16="http://schemas.microsoft.com/office/drawing/2014/main" id="{5722689A-927C-8FA1-51B2-F7154E170AFA}"/>
              </a:ext>
            </a:extLst>
          </p:cNvPr>
          <p:cNvGrpSpPr/>
          <p:nvPr/>
        </p:nvGrpSpPr>
        <p:grpSpPr>
          <a:xfrm>
            <a:off x="8282818" y="401520"/>
            <a:ext cx="3206072" cy="1202834"/>
            <a:chOff x="714286" y="329132"/>
            <a:chExt cx="6171429" cy="2285994"/>
          </a:xfrm>
        </p:grpSpPr>
        <p:pic>
          <p:nvPicPr>
            <p:cNvPr id="19" name="Object 5">
              <a:extLst>
                <a:ext uri="{FF2B5EF4-FFF2-40B4-BE49-F238E27FC236}">
                  <a16:creationId xmlns:a16="http://schemas.microsoft.com/office/drawing/2014/main" id="{FF8062B1-DDF0-5B86-CC89-1BA2FE72E5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4286" y="329132"/>
              <a:ext cx="6171429" cy="2285994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F880618-8553-6499-9EF8-D2868732D78B}"/>
              </a:ext>
            </a:extLst>
          </p:cNvPr>
          <p:cNvSpPr txBox="1"/>
          <p:nvPr/>
        </p:nvSpPr>
        <p:spPr>
          <a:xfrm>
            <a:off x="3723535" y="1697270"/>
            <a:ext cx="4744929" cy="1768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50000"/>
              </a:lnSpc>
            </a:pPr>
            <a:r>
              <a:rPr lang="ko-KR" altLang="en-US" sz="5400" b="1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아맞다</a:t>
            </a:r>
            <a:endParaRPr lang="en-US" altLang="ko-KR" sz="5400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E0B548-8E7D-646C-D2A0-8620B810C54E}"/>
              </a:ext>
            </a:extLst>
          </p:cNvPr>
          <p:cNvSpPr txBox="1"/>
          <p:nvPr/>
        </p:nvSpPr>
        <p:spPr>
          <a:xfrm>
            <a:off x="3711438" y="4201359"/>
            <a:ext cx="7415048" cy="133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ko-KR" altLang="en-US" sz="4000" b="1" dirty="0">
                <a:latin typeface="돋움체" panose="020B0609000101010101" pitchFamily="49" charset="-127"/>
                <a:ea typeface="돋움체" panose="020B0609000101010101" pitchFamily="49" charset="-127"/>
              </a:rPr>
              <a:t>발표자 </a:t>
            </a:r>
            <a:r>
              <a:rPr lang="en-US" altLang="ko-KR" sz="4000" b="1">
                <a:latin typeface="돋움체" panose="020B0609000101010101" pitchFamily="49" charset="-127"/>
                <a:ea typeface="돋움체" panose="020B0609000101010101" pitchFamily="49" charset="-127"/>
              </a:rPr>
              <a:t>:  </a:t>
            </a:r>
            <a:r>
              <a:rPr lang="ko-KR" altLang="en-US" sz="4000" b="1">
                <a:latin typeface="돋움체" panose="020B0609000101010101" pitchFamily="49" charset="-127"/>
                <a:ea typeface="돋움체" panose="020B0609000101010101" pitchFamily="49" charset="-127"/>
              </a:rPr>
              <a:t>차종협</a:t>
            </a:r>
            <a:endParaRPr lang="en-US" altLang="ko-KR" sz="4000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521206" y="448056"/>
            <a:ext cx="8613915" cy="640080"/>
          </a:xfrm>
        </p:spPr>
        <p:txBody>
          <a:bodyPr rtlCol="0">
            <a:noAutofit/>
          </a:bodyPr>
          <a:lstStyle/>
          <a:p>
            <a:pPr rtl="0"/>
            <a:r>
              <a:rPr lang="ko-KR" altLang="en-US" sz="3600" dirty="0">
                <a:latin typeface="맑은 고딕" panose="020B0503020000020004" pitchFamily="34" charset="-127"/>
                <a:ea typeface="맑은 고딕" panose="020B0503020000020004" pitchFamily="34" charset="-127"/>
                <a:cs typeface="Segoe UI Light" panose="020B0502040204020203" pitchFamily="34" charset="0"/>
              </a:rPr>
              <a:t>목차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D4C5BE-A286-40A9-ABB3-95A86BA7FFDA}"/>
              </a:ext>
            </a:extLst>
          </p:cNvPr>
          <p:cNvSpPr txBox="1"/>
          <p:nvPr/>
        </p:nvSpPr>
        <p:spPr>
          <a:xfrm>
            <a:off x="668844" y="1233818"/>
            <a:ext cx="9667623" cy="3591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altLang="ko-KR" sz="3200" b="1" dirty="0">
                <a:latin typeface="돋움체" panose="020B0609000101010101" pitchFamily="49" charset="-127"/>
                <a:ea typeface="돋움체" panose="020B0609000101010101" pitchFamily="49" charset="-127"/>
              </a:rPr>
              <a:t>1. </a:t>
            </a:r>
            <a:r>
              <a:rPr lang="ko-KR" altLang="en-US" sz="3200" b="1" dirty="0">
                <a:latin typeface="돋움체" panose="020B0609000101010101" pitchFamily="49" charset="-127"/>
                <a:ea typeface="돋움체" panose="020B0609000101010101" pitchFamily="49" charset="-127"/>
              </a:rPr>
              <a:t>창업 아이디어 개요</a:t>
            </a:r>
            <a:endParaRPr lang="en-US" altLang="ko-KR" sz="32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>
              <a:lnSpc>
                <a:spcPct val="250000"/>
              </a:lnSpc>
            </a:pPr>
            <a:r>
              <a:rPr lang="en-US" altLang="ko-KR" sz="3200" b="1" dirty="0">
                <a:latin typeface="돋움체" panose="020B0609000101010101" pitchFamily="49" charset="-127"/>
                <a:ea typeface="돋움체" panose="020B0609000101010101" pitchFamily="49" charset="-127"/>
              </a:rPr>
              <a:t>2. </a:t>
            </a:r>
            <a:r>
              <a:rPr lang="ko-KR" altLang="en-US" sz="3200" b="1" dirty="0">
                <a:latin typeface="돋움체" panose="020B0609000101010101" pitchFamily="49" charset="-127"/>
                <a:ea typeface="돋움체" panose="020B0609000101010101" pitchFamily="49" charset="-127"/>
              </a:rPr>
              <a:t>실현 전략 및 기대효과</a:t>
            </a:r>
            <a:endParaRPr lang="en-US" altLang="ko-KR" sz="32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>
              <a:lnSpc>
                <a:spcPct val="250000"/>
              </a:lnSpc>
            </a:pPr>
            <a:r>
              <a:rPr lang="en-US" altLang="ko-KR" sz="3200" b="1" dirty="0">
                <a:latin typeface="돋움체" panose="020B0609000101010101" pitchFamily="49" charset="-127"/>
                <a:ea typeface="돋움체" panose="020B0609000101010101" pitchFamily="49" charset="-127"/>
              </a:rPr>
              <a:t>3. </a:t>
            </a:r>
            <a:r>
              <a:rPr lang="ko-KR" altLang="en-US" sz="3200" b="1" dirty="0">
                <a:latin typeface="돋움체" panose="020B0609000101010101" pitchFamily="49" charset="-127"/>
                <a:ea typeface="돋움체" panose="020B0609000101010101" pitchFamily="49" charset="-127"/>
              </a:rPr>
              <a:t>최종목표</a:t>
            </a:r>
            <a:endParaRPr lang="en-US" altLang="ko-KR" sz="3200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F92DF7F-0066-1F7E-AC5B-43BC1FA4FF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521206" y="448056"/>
            <a:ext cx="8613915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sz="3600" dirty="0">
                <a:latin typeface="맑은 고딕" panose="020B0503020000020004" pitchFamily="34" charset="-127"/>
                <a:ea typeface="맑은 고딕" panose="020B0503020000020004" pitchFamily="34" charset="-127"/>
                <a:cs typeface="Segoe UI Light" panose="020B0502040204020203" pitchFamily="34" charset="0"/>
              </a:rPr>
              <a:t>1. </a:t>
            </a:r>
            <a:r>
              <a:rPr lang="ko-KR" altLang="en-US" sz="3600" dirty="0">
                <a:latin typeface="맑은 고딕" panose="020B0503020000020004" pitchFamily="34" charset="-127"/>
                <a:ea typeface="맑은 고딕" panose="020B0503020000020004" pitchFamily="34" charset="-127"/>
                <a:cs typeface="Segoe UI Light" panose="020B0502040204020203" pitchFamily="34" charset="0"/>
              </a:rPr>
              <a:t>창업 아이디어 개요</a:t>
            </a:r>
          </a:p>
        </p:txBody>
      </p:sp>
      <p:pic>
        <p:nvPicPr>
          <p:cNvPr id="2052" name="Picture 4" descr="삼성 갤럭시 빅스비 사용법">
            <a:extLst>
              <a:ext uri="{FF2B5EF4-FFF2-40B4-BE49-F238E27FC236}">
                <a16:creationId xmlns:a16="http://schemas.microsoft.com/office/drawing/2014/main" id="{FDB5F21D-4166-FE46-A7DB-679107C5C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033" y="2514746"/>
            <a:ext cx="4761995" cy="1828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205D153-F44D-2BCA-AC60-425C4610A1F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873" b="17882"/>
          <a:stretch/>
        </p:blipFill>
        <p:spPr>
          <a:xfrm>
            <a:off x="6856847" y="1672148"/>
            <a:ext cx="2892063" cy="351369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9544957-1298-0DC7-5B93-EC0E04EB12E7}"/>
              </a:ext>
            </a:extLst>
          </p:cNvPr>
          <p:cNvSpPr txBox="1"/>
          <p:nvPr/>
        </p:nvSpPr>
        <p:spPr>
          <a:xfrm>
            <a:off x="1952100" y="4450638"/>
            <a:ext cx="37109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800" b="1" dirty="0">
                <a:latin typeface="돋움체" panose="020B0609000101010101" pitchFamily="49" charset="-127"/>
                <a:ea typeface="돋움체" panose="020B0609000101010101" pitchFamily="49" charset="-127"/>
              </a:rPr>
              <a:t>음성 인식 서비스</a:t>
            </a:r>
            <a:endParaRPr lang="ko-KR" altLang="en-US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4BA5C6-431C-180A-30E8-C094ED15412B}"/>
              </a:ext>
            </a:extLst>
          </p:cNvPr>
          <p:cNvSpPr txBox="1"/>
          <p:nvPr/>
        </p:nvSpPr>
        <p:spPr>
          <a:xfrm>
            <a:off x="6447414" y="5246635"/>
            <a:ext cx="37109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800" b="1" dirty="0">
                <a:latin typeface="돋움체" panose="020B0609000101010101" pitchFamily="49" charset="-127"/>
                <a:ea typeface="돋움체" panose="020B0609000101010101" pitchFamily="49" charset="-127"/>
              </a:rPr>
              <a:t>알람 서비스</a:t>
            </a:r>
            <a:endParaRPr lang="ko-KR" altLang="en-US" sz="28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210D500-52B8-BD22-8284-726C9DB930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5694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521206" y="448056"/>
            <a:ext cx="8613915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sz="3600" dirty="0">
                <a:latin typeface="맑은 고딕" panose="020B0503020000020004" pitchFamily="34" charset="-127"/>
                <a:ea typeface="맑은 고딕" panose="020B0503020000020004" pitchFamily="34" charset="-127"/>
                <a:cs typeface="Segoe UI Light" panose="020B0502040204020203" pitchFamily="34" charset="0"/>
              </a:rPr>
              <a:t>1. </a:t>
            </a:r>
            <a:r>
              <a:rPr lang="ko-KR" altLang="en-US" sz="3600" dirty="0">
                <a:latin typeface="맑은 고딕" panose="020B0503020000020004" pitchFamily="34" charset="-127"/>
                <a:ea typeface="맑은 고딕" panose="020B0503020000020004" pitchFamily="34" charset="-127"/>
                <a:cs typeface="Segoe UI Light" panose="020B0502040204020203" pitchFamily="34" charset="0"/>
              </a:rPr>
              <a:t>창업 아이디어 개요</a:t>
            </a:r>
          </a:p>
        </p:txBody>
      </p:sp>
      <p:pic>
        <p:nvPicPr>
          <p:cNvPr id="3074" name="Picture 2" descr="여러 분야에서 활용되는 인공지능 장점은? | 타입캐스트">
            <a:extLst>
              <a:ext uri="{FF2B5EF4-FFF2-40B4-BE49-F238E27FC236}">
                <a16:creationId xmlns:a16="http://schemas.microsoft.com/office/drawing/2014/main" id="{2BD96270-55E9-D654-6E89-E995AEEC7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372" y="1929790"/>
            <a:ext cx="4697908" cy="3130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그렇다. 나는 게으름뱅이에 만사가 귀찮다. : 네이버 블로그">
            <a:extLst>
              <a:ext uri="{FF2B5EF4-FFF2-40B4-BE49-F238E27FC236}">
                <a16:creationId xmlns:a16="http://schemas.microsoft.com/office/drawing/2014/main" id="{850F099F-4109-9FEC-1F35-ADA095D0B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2720" y="1929790"/>
            <a:ext cx="4697908" cy="3100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9167E8-9321-D08C-7611-579CD1F10FEE}"/>
              </a:ext>
            </a:extLst>
          </p:cNvPr>
          <p:cNvSpPr txBox="1"/>
          <p:nvPr/>
        </p:nvSpPr>
        <p:spPr>
          <a:xfrm>
            <a:off x="1464862" y="5068522"/>
            <a:ext cx="37109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800" b="1" dirty="0">
                <a:latin typeface="돋움체" panose="020B0609000101010101" pitchFamily="49" charset="-127"/>
                <a:ea typeface="돋움체" panose="020B0609000101010101" pitchFamily="49" charset="-127"/>
              </a:rPr>
              <a:t>인공지능</a:t>
            </a:r>
            <a:endParaRPr lang="ko-KR" alt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2D63D9-9F40-2708-3AB9-12F7C3CAE51F}"/>
              </a:ext>
            </a:extLst>
          </p:cNvPr>
          <p:cNvSpPr txBox="1"/>
          <p:nvPr/>
        </p:nvSpPr>
        <p:spPr>
          <a:xfrm>
            <a:off x="7279657" y="5068522"/>
            <a:ext cx="37109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800" dirty="0"/>
              <a:t>게으름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A33759A-961A-0A74-F243-D3F5843CA7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5149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521206" y="448056"/>
            <a:ext cx="8613915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sz="3600" dirty="0">
                <a:latin typeface="맑은 고딕" panose="020B0503020000020004" pitchFamily="34" charset="-127"/>
                <a:ea typeface="맑은 고딕" panose="020B0503020000020004" pitchFamily="34" charset="-127"/>
                <a:cs typeface="Segoe UI Light" panose="020B0502040204020203" pitchFamily="34" charset="0"/>
              </a:rPr>
              <a:t>1. </a:t>
            </a:r>
            <a:r>
              <a:rPr lang="ko-KR" altLang="en-US" sz="3600" dirty="0">
                <a:latin typeface="맑은 고딕" panose="020B0503020000020004" pitchFamily="34" charset="-127"/>
                <a:ea typeface="맑은 고딕" panose="020B0503020000020004" pitchFamily="34" charset="-127"/>
                <a:cs typeface="Segoe UI Light" panose="020B0502040204020203" pitchFamily="34" charset="0"/>
              </a:rPr>
              <a:t>창업 아이디어 개요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108FA14-DB2E-58B7-18B9-0452E5564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559" y="1924603"/>
            <a:ext cx="4510088" cy="300879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35D8BF7-C755-43F7-9E5E-CC6B81AE6F1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778"/>
          <a:stretch/>
        </p:blipFill>
        <p:spPr>
          <a:xfrm>
            <a:off x="6598064" y="1928937"/>
            <a:ext cx="4540377" cy="3004459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045574C-03FF-42C5-0756-71028DA64F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1767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521206" y="448056"/>
            <a:ext cx="8613915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sz="3600" dirty="0">
                <a:latin typeface="맑은 고딕" panose="020B0503020000020004" pitchFamily="34" charset="-127"/>
                <a:ea typeface="맑은 고딕" panose="020B0503020000020004" pitchFamily="34" charset="-127"/>
                <a:cs typeface="Segoe UI Light" panose="020B0502040204020203" pitchFamily="34" charset="0"/>
              </a:rPr>
              <a:t>1. </a:t>
            </a:r>
            <a:r>
              <a:rPr lang="ko-KR" altLang="en-US" sz="3600" dirty="0">
                <a:latin typeface="맑은 고딕" panose="020B0503020000020004" pitchFamily="34" charset="-127"/>
                <a:ea typeface="맑은 고딕" panose="020B0503020000020004" pitchFamily="34" charset="-127"/>
                <a:cs typeface="Segoe UI Light" panose="020B0502040204020203" pitchFamily="34" charset="0"/>
              </a:rPr>
              <a:t>창업 아이디어 개요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4AC36AA-C05B-5316-445F-C65F6AF67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0920" y="1783678"/>
            <a:ext cx="2402032" cy="3785944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AD657A01-5AC8-6E44-5FF6-4EABDAC37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9050" y="2161032"/>
            <a:ext cx="3031236" cy="3031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77F0EA7-E5E9-4ECF-BF1E-D17380C025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4690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521206" y="448056"/>
            <a:ext cx="8613915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sz="3600" dirty="0">
                <a:latin typeface="맑은 고딕" panose="020B0503020000020004" pitchFamily="34" charset="-127"/>
                <a:ea typeface="맑은 고딕" panose="020B0503020000020004" pitchFamily="34" charset="-127"/>
                <a:cs typeface="Segoe UI Light" panose="020B0502040204020203" pitchFamily="34" charset="0"/>
              </a:rPr>
              <a:t>1. </a:t>
            </a:r>
            <a:r>
              <a:rPr lang="ko-KR" altLang="en-US" sz="3600" dirty="0">
                <a:latin typeface="맑은 고딕" panose="020B0503020000020004" pitchFamily="34" charset="-127"/>
                <a:ea typeface="맑은 고딕" panose="020B0503020000020004" pitchFamily="34" charset="-127"/>
                <a:cs typeface="Segoe UI Light" panose="020B0502040204020203" pitchFamily="34" charset="0"/>
              </a:rPr>
              <a:t>창업 아이디어 개요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8191EE1-1B09-6899-E9F2-C493990E2B70}"/>
              </a:ext>
            </a:extLst>
          </p:cNvPr>
          <p:cNvGrpSpPr/>
          <p:nvPr/>
        </p:nvGrpSpPr>
        <p:grpSpPr>
          <a:xfrm>
            <a:off x="2658565" y="1415194"/>
            <a:ext cx="2398198" cy="4027612"/>
            <a:chOff x="2869702" y="1568308"/>
            <a:chExt cx="2398198" cy="402761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CB3E56D-93FD-90DE-EED5-FC75A124C3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69702" y="1814529"/>
              <a:ext cx="2398198" cy="3781391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43E4507-0F4B-F51D-048B-52DD7571841B}"/>
                </a:ext>
              </a:extLst>
            </p:cNvPr>
            <p:cNvSpPr txBox="1"/>
            <p:nvPr/>
          </p:nvSpPr>
          <p:spPr>
            <a:xfrm>
              <a:off x="3098287" y="2941767"/>
              <a:ext cx="5810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>
                  <a:solidFill>
                    <a:srgbClr val="0070C0"/>
                  </a:solidFill>
                </a:rPr>
                <a:t>세탁소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BA4BBE3-44B6-E0C6-1275-4F7E4B6CC4E3}"/>
                </a:ext>
              </a:extLst>
            </p:cNvPr>
            <p:cNvSpPr txBox="1"/>
            <p:nvPr/>
          </p:nvSpPr>
          <p:spPr>
            <a:xfrm>
              <a:off x="4537650" y="1568308"/>
              <a:ext cx="5810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0070C0"/>
                  </a:solidFill>
                </a:rPr>
                <a:t>20:23</a:t>
              </a:r>
              <a:endParaRPr lang="ko-KR" altLang="en-US" sz="1000" b="1" dirty="0">
                <a:solidFill>
                  <a:srgbClr val="0070C0"/>
                </a:solidFill>
              </a:endParaRPr>
            </a:p>
          </p:txBody>
        </p:sp>
      </p:grpSp>
      <p:pic>
        <p:nvPicPr>
          <p:cNvPr id="5122" name="Picture 2">
            <a:extLst>
              <a:ext uri="{FF2B5EF4-FFF2-40B4-BE49-F238E27FC236}">
                <a16:creationId xmlns:a16="http://schemas.microsoft.com/office/drawing/2014/main" id="{995617E4-1729-1078-EBD2-4C0F4D4A7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5239" y="2305457"/>
            <a:ext cx="2493306" cy="2493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C961424-635E-96C1-F744-752BECAF6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7641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521206" y="448056"/>
            <a:ext cx="8613915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sz="3600" dirty="0">
                <a:latin typeface="맑은 고딕" panose="020B0503020000020004" pitchFamily="34" charset="-127"/>
                <a:ea typeface="맑은 고딕" panose="020B0503020000020004" pitchFamily="34" charset="-127"/>
                <a:cs typeface="Segoe UI Light" panose="020B0502040204020203" pitchFamily="34" charset="0"/>
              </a:rPr>
              <a:t>2. </a:t>
            </a:r>
            <a:r>
              <a:rPr lang="ko-KR" altLang="en-US" sz="3600" dirty="0">
                <a:latin typeface="맑은 고딕" panose="020B0503020000020004" pitchFamily="34" charset="-127"/>
                <a:ea typeface="맑은 고딕" panose="020B0503020000020004" pitchFamily="34" charset="-127"/>
                <a:cs typeface="Segoe UI Light" panose="020B0502040204020203" pitchFamily="34" charset="0"/>
              </a:rPr>
              <a:t>실현 전략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682AAF-FFE5-50FD-B74F-FA70BAAE0A83}"/>
              </a:ext>
            </a:extLst>
          </p:cNvPr>
          <p:cNvSpPr txBox="1"/>
          <p:nvPr/>
        </p:nvSpPr>
        <p:spPr>
          <a:xfrm>
            <a:off x="268705" y="1235643"/>
            <a:ext cx="11217442" cy="219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Clr>
                <a:srgbClr val="92D050"/>
              </a:buClr>
              <a:buFont typeface="Wingdings"/>
              <a:buChar char="§"/>
              <a:defRPr/>
            </a:pPr>
            <a:r>
              <a:rPr lang="ko-KR" altLang="en-US" sz="3200" spc="-150" dirty="0">
                <a:solidFill>
                  <a:srgbClr val="181818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KoPubWorld돋움체 Medium"/>
              </a:rPr>
              <a:t>시장 잠재력</a:t>
            </a:r>
            <a:endParaRPr lang="en-US" altLang="ko-KR" sz="3200" spc="-150" dirty="0">
              <a:solidFill>
                <a:srgbClr val="181818"/>
              </a:solidFill>
              <a:latin typeface="돋움체" panose="020B0609000101010101" pitchFamily="49" charset="-127"/>
              <a:ea typeface="돋움체" panose="020B0609000101010101" pitchFamily="49" charset="-127"/>
              <a:cs typeface="KoPubWorld돋움체 Medium"/>
            </a:endParaRPr>
          </a:p>
          <a:p>
            <a:pPr marL="1257300" lvl="2" indent="-342900">
              <a:lnSpc>
                <a:spcPct val="150000"/>
              </a:lnSpc>
              <a:buClr>
                <a:srgbClr val="0070C0"/>
              </a:buClr>
              <a:buFontTx/>
              <a:buChar char="▶"/>
              <a:defRPr/>
            </a:pPr>
            <a:r>
              <a:rPr lang="ko-KR" altLang="en-US" sz="3200" spc="-150" dirty="0">
                <a:solidFill>
                  <a:srgbClr val="181818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KoPubWorld돋움체 Medium"/>
              </a:rPr>
              <a:t>기존의 </a:t>
            </a:r>
            <a:r>
              <a:rPr lang="ko-KR" altLang="en-US" sz="3200" spc="-150" dirty="0" err="1">
                <a:solidFill>
                  <a:srgbClr val="181818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KoPubWorld돋움체 Medium"/>
              </a:rPr>
              <a:t>빅스비</a:t>
            </a:r>
            <a:r>
              <a:rPr lang="en-US" altLang="ko-KR" sz="3200" spc="-150" dirty="0">
                <a:solidFill>
                  <a:srgbClr val="181818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KoPubWorld돋움체 Medium"/>
              </a:rPr>
              <a:t>, </a:t>
            </a:r>
            <a:r>
              <a:rPr lang="ko-KR" altLang="en-US" sz="3200" spc="-150" dirty="0">
                <a:solidFill>
                  <a:srgbClr val="181818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KoPubWorld돋움체 Medium"/>
              </a:rPr>
              <a:t>시리 등이 개척해 놓은 음성 서비스 시장에 쉽게 융화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01FC341-F699-FF25-0094-84C7B95F2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8409" y="3429000"/>
            <a:ext cx="3150752" cy="2630392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D3C2193-5820-CEE2-A216-752EBFB039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688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521206" y="448056"/>
            <a:ext cx="8613915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sz="3600" dirty="0">
                <a:latin typeface="맑은 고딕" panose="020B0503020000020004" pitchFamily="34" charset="-127"/>
                <a:ea typeface="맑은 고딕" panose="020B0503020000020004" pitchFamily="34" charset="-127"/>
                <a:cs typeface="Segoe UI Light" panose="020B0502040204020203" pitchFamily="34" charset="0"/>
              </a:rPr>
              <a:t>2. </a:t>
            </a:r>
            <a:r>
              <a:rPr lang="ko-KR" altLang="en-US" sz="3600" dirty="0">
                <a:latin typeface="맑은 고딕" panose="020B0503020000020004" pitchFamily="34" charset="-127"/>
                <a:ea typeface="맑은 고딕" panose="020B0503020000020004" pitchFamily="34" charset="-127"/>
                <a:cs typeface="Segoe UI Light" panose="020B0502040204020203" pitchFamily="34" charset="0"/>
              </a:rPr>
              <a:t>실현 전략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682AAF-FFE5-50FD-B74F-FA70BAAE0A83}"/>
              </a:ext>
            </a:extLst>
          </p:cNvPr>
          <p:cNvSpPr txBox="1"/>
          <p:nvPr/>
        </p:nvSpPr>
        <p:spPr>
          <a:xfrm>
            <a:off x="268705" y="1235643"/>
            <a:ext cx="11217442" cy="145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Clr>
                <a:srgbClr val="92D050"/>
              </a:buClr>
              <a:buFont typeface="Wingdings"/>
              <a:buChar char="§"/>
              <a:defRPr/>
            </a:pPr>
            <a:r>
              <a:rPr lang="ko-KR" altLang="en-US" sz="3200" spc="-150" dirty="0">
                <a:solidFill>
                  <a:srgbClr val="181818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KoPubWorld돋움체 Medium"/>
              </a:rPr>
              <a:t>시장 잠재력</a:t>
            </a:r>
            <a:endParaRPr lang="en-US" altLang="ko-KR" sz="3200" spc="-150" dirty="0">
              <a:solidFill>
                <a:srgbClr val="181818"/>
              </a:solidFill>
              <a:latin typeface="돋움체" panose="020B0609000101010101" pitchFamily="49" charset="-127"/>
              <a:ea typeface="돋움체" panose="020B0609000101010101" pitchFamily="49" charset="-127"/>
              <a:cs typeface="KoPubWorld돋움체 Medium"/>
            </a:endParaRPr>
          </a:p>
          <a:p>
            <a:pPr marL="1257300" lvl="2" indent="-342900">
              <a:lnSpc>
                <a:spcPct val="150000"/>
              </a:lnSpc>
              <a:buClr>
                <a:srgbClr val="0070C0"/>
              </a:buClr>
              <a:buFontTx/>
              <a:buChar char="▶"/>
              <a:defRPr/>
            </a:pPr>
            <a:r>
              <a:rPr lang="ko-KR" altLang="en-US" sz="3200" spc="-150" dirty="0">
                <a:solidFill>
                  <a:srgbClr val="181818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KoPubWorld돋움체 Medium"/>
              </a:rPr>
              <a:t>사용의 편의성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D794D62-B2DA-7369-2876-6ACD176B8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370" y="2872034"/>
            <a:ext cx="2591259" cy="2591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E3ED22D-94B2-B441-BC5A-7AF7398F6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2219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521206" y="448056"/>
            <a:ext cx="8613915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sz="3600" dirty="0">
                <a:latin typeface="맑은 고딕" panose="020B0503020000020004" pitchFamily="34" charset="-127"/>
                <a:ea typeface="맑은 고딕" panose="020B0503020000020004" pitchFamily="34" charset="-127"/>
                <a:cs typeface="Segoe UI Light" panose="020B0502040204020203" pitchFamily="34" charset="0"/>
              </a:rPr>
              <a:t>2. </a:t>
            </a:r>
            <a:r>
              <a:rPr lang="ko-KR" altLang="en-US" sz="3600" dirty="0">
                <a:latin typeface="맑은 고딕" panose="020B0503020000020004" pitchFamily="34" charset="-127"/>
                <a:ea typeface="맑은 고딕" panose="020B0503020000020004" pitchFamily="34" charset="-127"/>
                <a:cs typeface="Segoe UI Light" panose="020B0502040204020203" pitchFamily="34" charset="0"/>
              </a:rPr>
              <a:t>실현 전략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682AAF-FFE5-50FD-B74F-FA70BAAE0A83}"/>
              </a:ext>
            </a:extLst>
          </p:cNvPr>
          <p:cNvSpPr txBox="1"/>
          <p:nvPr/>
        </p:nvSpPr>
        <p:spPr>
          <a:xfrm>
            <a:off x="268705" y="1235643"/>
            <a:ext cx="11217442" cy="145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Clr>
                <a:srgbClr val="92D050"/>
              </a:buClr>
              <a:buFont typeface="Wingdings"/>
              <a:buChar char="§"/>
              <a:defRPr/>
            </a:pPr>
            <a:r>
              <a:rPr lang="ko-KR" altLang="en-US" sz="3200" spc="-150" dirty="0">
                <a:solidFill>
                  <a:srgbClr val="181818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KoPubWorld돋움체 Medium"/>
              </a:rPr>
              <a:t>경쟁 우위</a:t>
            </a:r>
            <a:endParaRPr lang="en-US" altLang="ko-KR" sz="3200" spc="-150" dirty="0">
              <a:solidFill>
                <a:srgbClr val="181818"/>
              </a:solidFill>
              <a:latin typeface="돋움체" panose="020B0609000101010101" pitchFamily="49" charset="-127"/>
              <a:ea typeface="돋움체" panose="020B0609000101010101" pitchFamily="49" charset="-127"/>
              <a:cs typeface="KoPubWorld돋움체 Medium"/>
            </a:endParaRPr>
          </a:p>
          <a:p>
            <a:pPr marL="1257300" lvl="2" indent="-342900">
              <a:lnSpc>
                <a:spcPct val="150000"/>
              </a:lnSpc>
              <a:buClr>
                <a:srgbClr val="0070C0"/>
              </a:buClr>
              <a:buFontTx/>
              <a:buChar char="▶"/>
              <a:defRPr/>
            </a:pPr>
            <a:r>
              <a:rPr lang="ko-KR" altLang="en-US" sz="3200" spc="-150" dirty="0">
                <a:solidFill>
                  <a:srgbClr val="181818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KoPubWorld돋움체 Medium"/>
              </a:rPr>
              <a:t>단순한 기능 추가로 기존 모델에 바로 적용 가능</a:t>
            </a:r>
            <a:endParaRPr lang="en-US" altLang="ko-KR" sz="3200" spc="-150" dirty="0">
              <a:solidFill>
                <a:srgbClr val="181818"/>
              </a:solidFill>
              <a:latin typeface="돋움체" panose="020B0609000101010101" pitchFamily="49" charset="-127"/>
              <a:ea typeface="돋움체" panose="020B0609000101010101" pitchFamily="49" charset="-127"/>
              <a:cs typeface="KoPubWorld돋움체 Medium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32C132F-C670-ACFF-492C-51E48CB3A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4549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521206" y="448056"/>
            <a:ext cx="8613915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sz="3600" dirty="0">
                <a:latin typeface="맑은 고딕" panose="020B0503020000020004" pitchFamily="34" charset="-127"/>
                <a:ea typeface="맑은 고딕" panose="020B0503020000020004" pitchFamily="34" charset="-127"/>
                <a:cs typeface="Segoe UI Light" panose="020B0502040204020203" pitchFamily="34" charset="0"/>
              </a:rPr>
              <a:t>2. </a:t>
            </a:r>
            <a:r>
              <a:rPr lang="ko-KR" altLang="en-US" sz="3600" dirty="0">
                <a:latin typeface="맑은 고딕" panose="020B0503020000020004" pitchFamily="34" charset="-127"/>
                <a:ea typeface="맑은 고딕" panose="020B0503020000020004" pitchFamily="34" charset="-127"/>
                <a:cs typeface="Segoe UI Light" panose="020B0502040204020203" pitchFamily="34" charset="0"/>
              </a:rPr>
              <a:t>실현 전략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682AAF-FFE5-50FD-B74F-FA70BAAE0A83}"/>
              </a:ext>
            </a:extLst>
          </p:cNvPr>
          <p:cNvSpPr txBox="1"/>
          <p:nvPr/>
        </p:nvSpPr>
        <p:spPr>
          <a:xfrm>
            <a:off x="268705" y="1235643"/>
            <a:ext cx="11217442" cy="219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Clr>
                <a:srgbClr val="92D050"/>
              </a:buClr>
              <a:buFont typeface="Wingdings"/>
              <a:buChar char="§"/>
              <a:defRPr/>
            </a:pPr>
            <a:r>
              <a:rPr lang="ko-KR" altLang="en-US" sz="3200" spc="-150" dirty="0">
                <a:solidFill>
                  <a:srgbClr val="181818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KoPubWorld돋움체 Medium"/>
              </a:rPr>
              <a:t>경쟁 우위</a:t>
            </a:r>
            <a:endParaRPr lang="en-US" altLang="ko-KR" sz="3200" spc="-150" dirty="0">
              <a:solidFill>
                <a:srgbClr val="181818"/>
              </a:solidFill>
              <a:latin typeface="돋움체" panose="020B0609000101010101" pitchFamily="49" charset="-127"/>
              <a:ea typeface="돋움체" panose="020B0609000101010101" pitchFamily="49" charset="-127"/>
              <a:cs typeface="KoPubWorld돋움체 Medium"/>
            </a:endParaRPr>
          </a:p>
          <a:p>
            <a:pPr marL="1257300" lvl="2" indent="-342900">
              <a:lnSpc>
                <a:spcPct val="150000"/>
              </a:lnSpc>
              <a:buClr>
                <a:srgbClr val="0070C0"/>
              </a:buClr>
              <a:buFontTx/>
              <a:buChar char="▶"/>
              <a:defRPr/>
            </a:pPr>
            <a:r>
              <a:rPr lang="ko-KR" altLang="en-US" sz="3200" spc="-150" dirty="0">
                <a:solidFill>
                  <a:srgbClr val="181818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장소와 함께 알람을 통해 알려주는 것이 사용자의 기억에 더 도움됨</a:t>
            </a:r>
            <a:endParaRPr lang="ko-KR" altLang="en-US" sz="32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18A1191-951F-4FE1-75B2-2165E5782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5785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521206" y="448056"/>
            <a:ext cx="8613915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sz="3600" dirty="0">
                <a:latin typeface="맑은 고딕" panose="020B0503020000020004" pitchFamily="34" charset="-127"/>
                <a:ea typeface="맑은 고딕" panose="020B0503020000020004" pitchFamily="34" charset="-127"/>
                <a:cs typeface="Segoe UI Light" panose="020B0502040204020203" pitchFamily="34" charset="0"/>
              </a:rPr>
              <a:t>2. </a:t>
            </a:r>
            <a:r>
              <a:rPr lang="ko-KR" altLang="en-US" sz="3600" dirty="0">
                <a:latin typeface="맑은 고딕" panose="020B0503020000020004" pitchFamily="34" charset="-127"/>
                <a:ea typeface="맑은 고딕" panose="020B0503020000020004" pitchFamily="34" charset="-127"/>
                <a:cs typeface="Segoe UI Light" panose="020B0502040204020203" pitchFamily="34" charset="0"/>
              </a:rPr>
              <a:t>실현 전략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A2437F-DFD3-B385-8B57-BCEA3E45AE4F}"/>
              </a:ext>
            </a:extLst>
          </p:cNvPr>
          <p:cNvSpPr txBox="1"/>
          <p:nvPr/>
        </p:nvSpPr>
        <p:spPr>
          <a:xfrm>
            <a:off x="176238" y="1256191"/>
            <a:ext cx="11217442" cy="5148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Clr>
                <a:srgbClr val="92D050"/>
              </a:buClr>
              <a:buFont typeface="Wingdings"/>
              <a:buChar char="§"/>
              <a:defRPr/>
            </a:pPr>
            <a:r>
              <a:rPr lang="ko-KR" altLang="en-US" sz="3200" spc="-150" dirty="0">
                <a:solidFill>
                  <a:srgbClr val="181818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KoPubWorld돋움체 Medium"/>
              </a:rPr>
              <a:t>기대효과</a:t>
            </a:r>
            <a:endParaRPr lang="en-US" altLang="ko-KR" sz="3200" spc="-150" dirty="0">
              <a:solidFill>
                <a:srgbClr val="181818"/>
              </a:solidFill>
              <a:latin typeface="돋움체" panose="020B0609000101010101" pitchFamily="49" charset="-127"/>
              <a:ea typeface="돋움체" panose="020B0609000101010101" pitchFamily="49" charset="-127"/>
              <a:cs typeface="KoPubWorld돋움체 Medium"/>
            </a:endParaRPr>
          </a:p>
          <a:p>
            <a:pPr marL="1257300" lvl="2" indent="-342900">
              <a:lnSpc>
                <a:spcPct val="150000"/>
              </a:lnSpc>
              <a:buClr>
                <a:srgbClr val="0070C0"/>
              </a:buClr>
              <a:buFontTx/>
              <a:buChar char="▶"/>
              <a:defRPr/>
            </a:pPr>
            <a:r>
              <a:rPr lang="ko-KR" altLang="en-US" sz="3200" spc="-150" dirty="0">
                <a:solidFill>
                  <a:srgbClr val="181818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바쁜 현대인의 시간 낭비 절약</a:t>
            </a:r>
            <a:r>
              <a:rPr lang="en-US" altLang="ko-KR" sz="3200" spc="-150" dirty="0">
                <a:solidFill>
                  <a:srgbClr val="181818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ko-KR" altLang="en-US" sz="3200" spc="-150" dirty="0">
                <a:solidFill>
                  <a:srgbClr val="181818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약국</a:t>
            </a:r>
            <a:r>
              <a:rPr lang="en-US" altLang="ko-KR" sz="3200" spc="-150" dirty="0">
                <a:solidFill>
                  <a:srgbClr val="181818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ko-KR" altLang="en-US" sz="3200" spc="-150" dirty="0">
                <a:solidFill>
                  <a:srgbClr val="181818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빨래</a:t>
            </a:r>
            <a:r>
              <a:rPr lang="en-US" altLang="ko-KR" sz="3200" spc="-150" dirty="0">
                <a:solidFill>
                  <a:srgbClr val="181818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</a:p>
          <a:p>
            <a:pPr marL="1257300" lvl="2" indent="-342900">
              <a:lnSpc>
                <a:spcPct val="150000"/>
              </a:lnSpc>
              <a:buClr>
                <a:srgbClr val="0070C0"/>
              </a:buClr>
              <a:buFontTx/>
              <a:buChar char="▶"/>
              <a:defRPr/>
            </a:pPr>
            <a:r>
              <a:rPr lang="ko-KR" altLang="en-US" sz="3200" dirty="0">
                <a:latin typeface="돋움체" panose="020B0609000101010101" pitchFamily="49" charset="-127"/>
                <a:ea typeface="돋움체" panose="020B0609000101010101" pitchFamily="49" charset="-127"/>
              </a:rPr>
              <a:t>원하는 제품 알림 </a:t>
            </a:r>
            <a:endParaRPr lang="en-US" altLang="ko-KR" sz="32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2">
              <a:lnSpc>
                <a:spcPct val="150000"/>
              </a:lnSpc>
              <a:buClr>
                <a:srgbClr val="0070C0"/>
              </a:buClr>
              <a:defRPr/>
            </a:pPr>
            <a:r>
              <a:rPr lang="en-US" altLang="ko-KR" sz="32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ko-KR" altLang="en-US" sz="3200" dirty="0">
                <a:latin typeface="돋움체" panose="020B0609000101010101" pitchFamily="49" charset="-127"/>
                <a:ea typeface="돋움체" panose="020B0609000101010101" pitchFamily="49" charset="-127"/>
              </a:rPr>
              <a:t>신발 사이즈</a:t>
            </a:r>
            <a:r>
              <a:rPr lang="en-US" altLang="ko-KR" sz="3200" dirty="0">
                <a:latin typeface="돋움체" panose="020B0609000101010101" pitchFamily="49" charset="-127"/>
                <a:ea typeface="돋움체" panose="020B0609000101010101" pitchFamily="49" charset="-127"/>
              </a:rPr>
              <a:t>,</a:t>
            </a:r>
            <a:r>
              <a:rPr lang="ko-KR" altLang="en-US" sz="32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포켓몬빵</a:t>
            </a:r>
            <a:r>
              <a:rPr lang="en-US" altLang="ko-KR" sz="3200" dirty="0">
                <a:latin typeface="돋움체" panose="020B0609000101010101" pitchFamily="49" charset="-127"/>
                <a:ea typeface="돋움체" panose="020B0609000101010101" pitchFamily="49" charset="-127"/>
              </a:rPr>
              <a:t>,</a:t>
            </a:r>
            <a:r>
              <a:rPr lang="ko-KR" altLang="en-US" sz="32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연세우유빵</a:t>
            </a:r>
            <a:r>
              <a:rPr lang="en-US" altLang="ko-KR" sz="3200" dirty="0"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</a:p>
          <a:p>
            <a:pPr marL="1257300" lvl="2" indent="-342900">
              <a:lnSpc>
                <a:spcPct val="150000"/>
              </a:lnSpc>
              <a:buClr>
                <a:srgbClr val="0070C0"/>
              </a:buClr>
              <a:buFontTx/>
              <a:buChar char="▶"/>
              <a:defRPr/>
            </a:pPr>
            <a:endParaRPr lang="en-US" altLang="ko-KR" sz="32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marL="1257300" lvl="2" indent="-342900">
              <a:lnSpc>
                <a:spcPct val="150000"/>
              </a:lnSpc>
              <a:buClr>
                <a:srgbClr val="0070C0"/>
              </a:buClr>
              <a:buFontTx/>
              <a:buChar char="▶"/>
              <a:defRPr/>
            </a:pPr>
            <a:endParaRPr lang="en-US" altLang="ko-KR" sz="32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marL="1257300" lvl="2" indent="-342900">
              <a:lnSpc>
                <a:spcPct val="150000"/>
              </a:lnSpc>
              <a:buClr>
                <a:srgbClr val="0070C0"/>
              </a:buClr>
              <a:buFontTx/>
              <a:buChar char="▶"/>
              <a:defRPr/>
            </a:pPr>
            <a:endParaRPr lang="ko-KR" altLang="en-US" sz="32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pic>
        <p:nvPicPr>
          <p:cNvPr id="3" name="그림 2" descr="텍스트, 실내, 상점, 혼잡한이(가) 표시된 사진&#10;&#10;자동 생성된 설명">
            <a:extLst>
              <a:ext uri="{FF2B5EF4-FFF2-40B4-BE49-F238E27FC236}">
                <a16:creationId xmlns:a16="http://schemas.microsoft.com/office/drawing/2014/main" id="{62174C9A-858B-B850-BAA5-3C41EE3A0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144" y="4138864"/>
            <a:ext cx="3217536" cy="2145024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D3AA7DD-EA64-8AE2-7E7B-FECC9E6D4F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674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521206" y="448056"/>
            <a:ext cx="8613915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sz="3600" dirty="0">
                <a:latin typeface="맑은 고딕" panose="020B0503020000020004" pitchFamily="34" charset="-127"/>
                <a:ea typeface="맑은 고딕" panose="020B0503020000020004" pitchFamily="34" charset="-127"/>
                <a:cs typeface="Segoe UI Light" panose="020B0502040204020203" pitchFamily="34" charset="0"/>
              </a:rPr>
              <a:t>3. </a:t>
            </a:r>
            <a:r>
              <a:rPr lang="ko-KR" altLang="en-US" sz="3600" dirty="0">
                <a:latin typeface="맑은 고딕" panose="020B0503020000020004" pitchFamily="34" charset="-127"/>
                <a:ea typeface="맑은 고딕" panose="020B0503020000020004" pitchFamily="34" charset="-127"/>
                <a:cs typeface="Segoe UI Light" panose="020B0502040204020203" pitchFamily="34" charset="0"/>
              </a:rPr>
              <a:t>최종 목표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174384-6C3E-CA07-373C-78DD5C3E8E9D}"/>
              </a:ext>
            </a:extLst>
          </p:cNvPr>
          <p:cNvSpPr txBox="1"/>
          <p:nvPr/>
        </p:nvSpPr>
        <p:spPr>
          <a:xfrm>
            <a:off x="176238" y="1256191"/>
            <a:ext cx="11217442" cy="2932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Clr>
                <a:srgbClr val="92D050"/>
              </a:buClr>
              <a:buFont typeface="Wingdings"/>
              <a:buChar char="§"/>
              <a:defRPr/>
            </a:pPr>
            <a:r>
              <a:rPr lang="ko-KR" altLang="en-US" sz="3200" spc="-150" dirty="0">
                <a:solidFill>
                  <a:srgbClr val="181818"/>
                </a:solidFill>
                <a:latin typeface="돋움체" panose="020B0609000101010101" pitchFamily="49" charset="-127"/>
                <a:ea typeface="돋움체" panose="020B0609000101010101" pitchFamily="49" charset="-127"/>
                <a:cs typeface="KoPubWorld돋움체 Medium"/>
              </a:rPr>
              <a:t>최종 목표</a:t>
            </a:r>
            <a:endParaRPr lang="en-US" altLang="ko-KR" sz="3200" spc="-150" dirty="0">
              <a:solidFill>
                <a:srgbClr val="181818"/>
              </a:solidFill>
              <a:latin typeface="돋움체" panose="020B0609000101010101" pitchFamily="49" charset="-127"/>
              <a:ea typeface="돋움체" panose="020B0609000101010101" pitchFamily="49" charset="-127"/>
              <a:cs typeface="KoPubWorld돋움체 Medium"/>
            </a:endParaRPr>
          </a:p>
          <a:p>
            <a:pPr marL="1257300" lvl="2" indent="-342900">
              <a:lnSpc>
                <a:spcPct val="150000"/>
              </a:lnSpc>
              <a:buClr>
                <a:srgbClr val="0070C0"/>
              </a:buClr>
              <a:buFontTx/>
              <a:buChar char="▶"/>
              <a:defRPr/>
            </a:pPr>
            <a:r>
              <a:rPr lang="ko-KR" altLang="en-US" sz="3200" spc="-150" dirty="0">
                <a:solidFill>
                  <a:srgbClr val="181818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편의시설과 연동하여 다양한 기능 추가</a:t>
            </a:r>
            <a:endParaRPr lang="en-US" altLang="ko-KR" sz="3200" spc="-150" dirty="0">
              <a:solidFill>
                <a:srgbClr val="181818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marL="1257300" lvl="2" indent="-342900">
              <a:lnSpc>
                <a:spcPct val="150000"/>
              </a:lnSpc>
              <a:buClr>
                <a:srgbClr val="0070C0"/>
              </a:buClr>
              <a:buFontTx/>
              <a:buChar char="▶"/>
              <a:defRPr/>
            </a:pPr>
            <a:r>
              <a:rPr lang="ko-KR" altLang="en-US" sz="3200" spc="-150" dirty="0">
                <a:solidFill>
                  <a:srgbClr val="181818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삼성</a:t>
            </a:r>
            <a:r>
              <a:rPr lang="en-US" altLang="ko-KR" sz="3200" spc="-150" dirty="0">
                <a:solidFill>
                  <a:srgbClr val="181818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Bixby, </a:t>
            </a:r>
            <a:r>
              <a:rPr lang="ko-KR" altLang="en-US" sz="3200" spc="-150" dirty="0">
                <a:solidFill>
                  <a:srgbClr val="181818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애플 </a:t>
            </a:r>
            <a:r>
              <a:rPr lang="en-US" altLang="ko-KR" sz="3200" spc="-150" dirty="0">
                <a:solidFill>
                  <a:srgbClr val="181818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Siri </a:t>
            </a:r>
            <a:r>
              <a:rPr lang="ko-KR" altLang="en-US" sz="3200" spc="-150" dirty="0">
                <a:solidFill>
                  <a:srgbClr val="181818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등의 음성 인식 서비스와의 협력</a:t>
            </a:r>
            <a:endParaRPr lang="ko-KR" altLang="en-US" sz="32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915764F-AE39-10FF-F9F2-220FC5761D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2464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79688CFD-1E27-0B53-D455-F4A071A1FACC}"/>
              </a:ext>
            </a:extLst>
          </p:cNvPr>
          <p:cNvGrpSpPr/>
          <p:nvPr/>
        </p:nvGrpSpPr>
        <p:grpSpPr>
          <a:xfrm>
            <a:off x="390771" y="401520"/>
            <a:ext cx="11410457" cy="6540081"/>
            <a:chOff x="362761" y="313066"/>
            <a:chExt cx="11410457" cy="654008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023D1E5-7236-940D-AC4F-0A5FAE7A08F5}"/>
                </a:ext>
              </a:extLst>
            </p:cNvPr>
            <p:cNvSpPr/>
            <p:nvPr/>
          </p:nvSpPr>
          <p:spPr>
            <a:xfrm>
              <a:off x="362761" y="313066"/>
              <a:ext cx="11410457" cy="6540081"/>
            </a:xfrm>
            <a:prstGeom prst="rect">
              <a:avLst/>
            </a:prstGeom>
            <a:grpFill/>
            <a:ln>
              <a:noFill/>
            </a:ln>
            <a:effectLst>
              <a:outerShdw blurRad="2159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14C2368-4298-7B87-0E57-FFA667C3E91F}"/>
                </a:ext>
              </a:extLst>
            </p:cNvPr>
            <p:cNvSpPr/>
            <p:nvPr/>
          </p:nvSpPr>
          <p:spPr>
            <a:xfrm>
              <a:off x="434595" y="579171"/>
              <a:ext cx="7114650" cy="398892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endParaRPr lang="en-US" altLang="ko-KR" sz="1600" kern="0" spc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여기어때 잘난체" panose="020B0600000101010101" pitchFamily="50" charset="-127"/>
                <a:ea typeface="여기어때 잘난체" panose="020B0600000101010101" pitchFamily="50" charset="-127"/>
              </a:endParaRPr>
            </a:p>
          </p:txBody>
        </p:sp>
      </p:grp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52346" y="1880289"/>
            <a:ext cx="10515600" cy="2387600"/>
          </a:xfrm>
        </p:spPr>
        <p:txBody>
          <a:bodyPr rtlCol="0" anchor="ctr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5400" b="1" dirty="0">
                <a:solidFill>
                  <a:schemeClr val="bg1"/>
                </a:solidFill>
              </a:rPr>
              <a:t> </a:t>
            </a:r>
            <a:r>
              <a:rPr lang="en-US" altLang="ko-KR" sz="5400" b="1" dirty="0"/>
              <a:t>THE END</a:t>
            </a:r>
            <a:endParaRPr lang="ko-KR" altLang="en-US" b="1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088CA723-5321-4A3E-8EBB-61E3127A1C54}"/>
              </a:ext>
            </a:extLst>
          </p:cNvPr>
          <p:cNvSpPr txBox="1">
            <a:spLocks/>
          </p:cNvSpPr>
          <p:nvPr/>
        </p:nvSpPr>
        <p:spPr>
          <a:xfrm>
            <a:off x="2737147" y="3900483"/>
            <a:ext cx="6583891" cy="45231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1321953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따뜻한 파란색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</a:spPr>
      <a:bodyPr wrap="square" rtlCol="0" anchor="ctr">
        <a:spAutoFit/>
      </a:bodyPr>
      <a:lstStyle>
        <a:defPPr algn="l">
          <a:defRPr dirty="0">
            <a:latin typeface="맑은 고딕" panose="020B0503020000020004" pitchFamily="34" charset="-127"/>
            <a:ea typeface="맑은 고딕" panose="020B0503020000020004" pitchFamily="34" charset="-127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_36715147_TF10001108.potx" id="{3F4D466F-2E95-485C-97A8-7A840C6B88CE}" vid="{A086733F-FFD1-4E69-9A0E-40414DC78DC6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8a52e8c320b9a064ae3583ae3861c9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8020cb39231a0945110f9cd888b521a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50072C5-DDE0-4258-BA7A-4D4B80DFA63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FD7FC771-7DFE-49DA-B577-71181BFBCB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EE8C63A-4744-4DE4-BB49-0FF0B5375C6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 2016 시작</Template>
  <TotalTime>0</TotalTime>
  <Words>734</Words>
  <Application>Microsoft Office PowerPoint</Application>
  <PresentationFormat>와이드스크린</PresentationFormat>
  <Paragraphs>94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Malgun Gothic Semilight</vt:lpstr>
      <vt:lpstr>돋움체</vt:lpstr>
      <vt:lpstr>맑은 고딕</vt:lpstr>
      <vt:lpstr>여기어때 잘난체</vt:lpstr>
      <vt:lpstr>Arial</vt:lpstr>
      <vt:lpstr>Segoe UI</vt:lpstr>
      <vt:lpstr>Wingdings</vt:lpstr>
      <vt:lpstr>WelcomeDoc</vt:lpstr>
      <vt:lpstr>PowerPoint 프레젠테이션</vt:lpstr>
      <vt:lpstr>목차</vt:lpstr>
      <vt:lpstr>1. 창업 아이디어 개요</vt:lpstr>
      <vt:lpstr>1. 창업 아이디어 개요</vt:lpstr>
      <vt:lpstr>1. 창업 아이디어 개요</vt:lpstr>
      <vt:lpstr>1. 창업 아이디어 개요</vt:lpstr>
      <vt:lpstr>1. 창업 아이디어 개요</vt:lpstr>
      <vt:lpstr>2. 실현 전략</vt:lpstr>
      <vt:lpstr>2. 실현 전략</vt:lpstr>
      <vt:lpstr>2. 실현 전략</vt:lpstr>
      <vt:lpstr>2. 실현 전략</vt:lpstr>
      <vt:lpstr>2. 실현 전략</vt:lpstr>
      <vt:lpstr>3. 최종 목표</vt:lpstr>
      <vt:lpstr> 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2020-01-27T13:39:55Z</dcterms:created>
  <dcterms:modified xsi:type="dcterms:W3CDTF">2023-02-27T15:57:10Z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